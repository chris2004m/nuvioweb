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96d9331f184a98" /><Relationship Type="http://schemas.openxmlformats.org/officeDocument/2006/relationships/extended-properties" Target="/docProps/app.xml" Id="R1bca7faee4bd43f6" /><Relationship Type="http://schemas.openxmlformats.org/officeDocument/2006/relationships/officeDocument" Target="/ppt/presentation.xml" Id="R4042f3cd430641dc" /></Relationships>
</file>

<file path=ppt/presentation.xml><?xml version="1.0" encoding="utf-8"?>
<p:presentation xmlns:p="http://schemas.openxmlformats.org/presentationml/2006/main">
  <p:sldMasterIdLst>
    <p:sldMasterId xmlns:r="http://schemas.openxmlformats.org/officeDocument/2006/relationships" id="2147483648" r:id="R5625584cd71247c5"/>
  </p:sldMasterIdLst>
  <p:notesMasterIdLst>
    <p:notesMasterId xmlns:r="http://schemas.openxmlformats.org/officeDocument/2006/relationships" r:id="Rfded4778124c4198"/>
  </p:notesMasterIdLst>
  <p:sldIdLst>
    <p:sldId xmlns:r="http://schemas.openxmlformats.org/officeDocument/2006/relationships" id="256" r:id="R371ae30cbdf44853"/>
    <p:sldId xmlns:r="http://schemas.openxmlformats.org/officeDocument/2006/relationships" id="257" r:id="R5c3de83f399b42d0"/>
    <p:sldId xmlns:r="http://schemas.openxmlformats.org/officeDocument/2006/relationships" id="258" r:id="R11266fe8967b46d4"/>
    <p:sldId xmlns:r="http://schemas.openxmlformats.org/officeDocument/2006/relationships" id="259" r:id="R3194e96f464c47e3"/>
    <p:sldId xmlns:r="http://schemas.openxmlformats.org/officeDocument/2006/relationships" id="260" r:id="Readd34c58dac44e1"/>
    <p:sldId xmlns:r="http://schemas.openxmlformats.org/officeDocument/2006/relationships" id="261" r:id="Rb6f590b2cdeb4e8c"/>
    <p:sldId xmlns:r="http://schemas.openxmlformats.org/officeDocument/2006/relationships" id="262" r:id="Ra71c0c4411f34b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47bbfe7a5504f65" /><Relationship Type="http://schemas.openxmlformats.org/officeDocument/2006/relationships/slideMaster" Target="/ppt/slideMasters/slideMaster1.xml" Id="R5625584cd71247c5" /><Relationship Type="http://schemas.openxmlformats.org/officeDocument/2006/relationships/notesMaster" Target="/ppt/notesMasters/notesMaster1.xml" Id="Rfded4778124c4198" /><Relationship Type="http://schemas.openxmlformats.org/officeDocument/2006/relationships/presProps" Target="/ppt/presProps.xml" Id="R3bdf664d5e824299" /><Relationship Type="http://schemas.openxmlformats.org/officeDocument/2006/relationships/tableStyles" Target="/ppt/tableStyles.xml" Id="R742f69f8b85743da" /><Relationship Type="http://schemas.openxmlformats.org/officeDocument/2006/relationships/slide" Target="/ppt/slides/slide1.xml" Id="R371ae30cbdf44853" /><Relationship Type="http://schemas.openxmlformats.org/officeDocument/2006/relationships/slide" Target="/ppt/slides/slide2.xml" Id="R5c3de83f399b42d0" /><Relationship Type="http://schemas.openxmlformats.org/officeDocument/2006/relationships/slide" Target="/ppt/slides/slide3.xml" Id="R11266fe8967b46d4" /><Relationship Type="http://schemas.openxmlformats.org/officeDocument/2006/relationships/slide" Target="/ppt/slides/slide4.xml" Id="R3194e96f464c47e3" /><Relationship Type="http://schemas.openxmlformats.org/officeDocument/2006/relationships/slide" Target="/ppt/slides/slide5.xml" Id="Readd34c58dac44e1" /><Relationship Type="http://schemas.openxmlformats.org/officeDocument/2006/relationships/slide" Target="/ppt/slides/slide6.xml" Id="Rb6f590b2cdeb4e8c" /><Relationship Type="http://schemas.openxmlformats.org/officeDocument/2006/relationships/slide" Target="/ppt/slides/slide7.xml" Id="Ra71c0c4411f34b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dc1637c67c41e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cb7eb8c9bf4cc4" /><Relationship Type="http://schemas.openxmlformats.org/officeDocument/2006/relationships/notesMaster" Target="/ppt/notesMasters/notesMaster1.xml" Id="R5b830ee0e47345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f815cccc8c4a27" /><Relationship Type="http://schemas.openxmlformats.org/officeDocument/2006/relationships/notesMaster" Target="/ppt/notesMasters/notesMaster1.xml" Id="Rbd00747901cc4b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7fc487acea4cfd" /><Relationship Type="http://schemas.openxmlformats.org/officeDocument/2006/relationships/notesMaster" Target="/ppt/notesMasters/notesMaster1.xml" Id="R2f4c12a212814d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4e7de0ec3b439a" /><Relationship Type="http://schemas.openxmlformats.org/officeDocument/2006/relationships/notesMaster" Target="/ppt/notesMasters/notesMaster1.xml" Id="R56e1957c139243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f95b4644d34989" /><Relationship Type="http://schemas.openxmlformats.org/officeDocument/2006/relationships/notesMaster" Target="/ppt/notesMasters/notesMaster1.xml" Id="R6dc8e9360f2146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48b0b39cea413f" /><Relationship Type="http://schemas.openxmlformats.org/officeDocument/2006/relationships/notesMaster" Target="/ppt/notesMasters/notesMaster1.xml" Id="R84b81d7c8f0247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2c6ca385444efd" /><Relationship Type="http://schemas.openxmlformats.org/officeDocument/2006/relationships/notesMaster" Target="/ppt/notesMasters/notesMaster1.xml" Id="R3c4960bc550f43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Local NuvioTV-Web brand assets and product description.</a:t>
            </a:r>
          </a:p>
          <a:p xmlns:a="http://schemas.openxmlformats.org/drawingml/2006/main">
            <a:r>
              <a:t>Samsung Seller Office publication and packaging requirements: https://developer.samsung.com/tv-seller-office/checklists-for-distribution/launch-checklist.html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Nuvio Android product positioning reference: https://play.google.com/store/apps/details?id=com.nuvio.app</a:t>
            </a:r>
          </a:p>
          <a:p xmlns:a="http://schemas.openxmlformats.org/drawingml/2006/main">
            <a:r>
              <a:t>The public listing’s publisher/support identity is not copied here because it does not match the NuvioMedia repository identity; publisher-supplied legal and contact fields remain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Local screenshot captured from the NuvioTV-Web build at 1920x1080.</a:t>
            </a:r>
          </a:p>
          <a:p xmlns:a="http://schemas.openxmlformats.org/drawingml/2006/main">
            <a:r>
              <a:t>Nuvio Android product positioning reference: https://play.google.com/store/apps/details?id=com.nuvio.app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Local screenshots captured from the NuvioTV-Web build at 1920x1080.</a:t>
            </a:r>
          </a:p>
          <a:p xmlns:a="http://schemas.openxmlformats.org/drawingml/2006/main">
            <a:r>
              <a:t>Nuvio Android product positioning reference: https://play.google.com/store/apps/details?id=com.nuvio.app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Local screenshot captured from the NuvioTV-Web build at 1920x1080.</a:t>
            </a:r>
          </a:p>
          <a:p xmlns:a="http://schemas.openxmlformats.org/drawingml/2006/main">
            <a:r>
              <a:t>Samsung player information and service registration fields: https://developer.samsung.com/tv-seller-office/guides/applications/entering-application-information.html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Samsung Launch Checklist: https://developer.samsung.com/tv-seller-office/checklists-for-distribution/launch-checklist.html</a:t>
            </a:r>
          </a:p>
          <a:p xmlns:a="http://schemas.openxmlformats.org/drawingml/2006/main">
            <a:r>
              <a:t>Samsung Publishing an application: https://developer.samsung.com/tizen/Smart-TV/Quickstarts/Publishing-an-application.html</a:t>
            </a:r>
          </a:p>
          <a:p xmlns:a="http://schemas.openxmlformats.org/drawingml/2006/main">
            <a:r>
              <a:t>Samsung Becoming Partners: https://developer.samsung.com/tv-seller-office/guides/membership/becoming-partner.html</a:t>
            </a:r>
          </a:p>
          <a:p xmlns:a="http://schemas.openxmlformats.org/drawingml/2006/main">
            <a:r>
              <a:t>Samsung Privileges Q&amp;A: https://developer.samsung.com/smarttv/develop/faq/privileges.html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Samsung Seller Office requires test information for certification and verification: https://developer.samsung.com/tv-seller-office/</a:t>
            </a:r>
          </a:p>
          <a:p xmlns:a="http://schemas.openxmlformats.org/drawingml/2006/main">
            <a:r>
              <a:t>Samsung player information fields: https://developer.samsung.com/tv-seller-office/guides/applications/entering-application-information.html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fae98e7cb8440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a8817f30834921" /><Relationship Type="http://schemas.openxmlformats.org/officeDocument/2006/relationships/slideLayout" Target="/ppt/slideLayouts/slideLayout1.xml" Id="R2bbc04b4e79f4d1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bc04b4e79f4d1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4c4a872dc646df" /><Relationship Type="http://schemas.openxmlformats.org/officeDocument/2006/relationships/image" Target="/ppt/media/image.png" Id="R34feccdafc454961" /><Relationship Type="http://schemas.openxmlformats.org/officeDocument/2006/relationships/image" Target="/ppt/media/image2.png" Id="R2602adbd6bc84b34" /><Relationship Type="http://schemas.openxmlformats.org/officeDocument/2006/relationships/notesSlide" Target="/ppt/notesSlides/notesSlide1.xml" Id="R2c6ed0bf8a7248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6918a71dae4d9d" /><Relationship Type="http://schemas.openxmlformats.org/officeDocument/2006/relationships/notesSlide" Target="/ppt/notesSlides/notesSlide2.xml" Id="Rae12400f63254e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914b95353b14f22" /><Relationship Type="http://schemas.openxmlformats.org/officeDocument/2006/relationships/image" Target="/ppt/media/image.jpeg" Id="Rae41a51027554130" /><Relationship Type="http://schemas.openxmlformats.org/officeDocument/2006/relationships/notesSlide" Target="/ppt/notesSlides/notesSlide3.xml" Id="Ra18ecc7fbe9b45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6cda1edbe334467" /><Relationship Type="http://schemas.openxmlformats.org/officeDocument/2006/relationships/image" Target="/ppt/media/image2.jpeg" Id="R7b696e1ed46d4869" /><Relationship Type="http://schemas.openxmlformats.org/officeDocument/2006/relationships/image" Target="/ppt/media/image3.jpeg" Id="Rc498ca22d22e46e0" /><Relationship Type="http://schemas.openxmlformats.org/officeDocument/2006/relationships/notesSlide" Target="/ppt/notesSlides/notesSlide4.xml" Id="R7ebf305f103c4e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5b7b1f47dd4e1c" /><Relationship Type="http://schemas.openxmlformats.org/officeDocument/2006/relationships/image" Target="/ppt/media/image4.jpeg" Id="Rbc077a382bc34858" /><Relationship Type="http://schemas.openxmlformats.org/officeDocument/2006/relationships/notesSlide" Target="/ppt/notesSlides/notesSlide5.xml" Id="Rb839b5ff913946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a7bfd08e404872" /><Relationship Type="http://schemas.openxmlformats.org/officeDocument/2006/relationships/notesSlide" Target="/ppt/notesSlides/notesSlide6.xml" Id="Ra192f959571a4e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8ff9999bb474c86" /><Relationship Type="http://schemas.openxmlformats.org/officeDocument/2006/relationships/notesSlide" Target="/ppt/notesSlides/notesSlide7.xml" Id="R7a7c8059a374447a" /></Relationships>
</file>

<file path=ppt/slides/slide1.xml><?xml version="1.0" encoding="utf-8"?>
<p:sld xmlns:p="http://schemas.openxmlformats.org/presentationml/2006/main">
  <p:cSld>
    <p:bg>
      <p:bgPr>
        <a:solidFill xmlns:a="http://schemas.openxmlformats.org/drawingml/2006/main">
          <a:srgbClr val="101116"/>
        </a:solidFill>
      </p:bgPr>
    </p:bg>
    <p:spTree>
      <p:nvGrpSpPr>
        <p:cNvPr id="1" name=""/>
        <p:cNvGrpSpPr/>
        <p:nvPr/>
      </p:nvGrpSpPr>
      <p:grpSpPr>
        <a:xfrm xmlns:a="http://schemas.openxmlformats.org/drawingml/2006/main"/>
      </p:grpSpPr>
      <p:sp>
        <p:nvSpPr>
          <p:cNvPr id="11" name="cover-bg">
            <a:extLst xmlns:a="http://schemas.openxmlformats.org/drawingml/2006/main">
              <a:ext uri="{FF2B5EF4-FFF2-40B4-BE49-F238E27FC236}">
                <a16:creationId xmlns:a16="http://schemas.microsoft.com/office/drawing/2014/main" id="{570B9547-E8C4-40BC-B12B-63BEBDF25B5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01116"/>
          </a:solidFill>
          <a:ln xmlns:a="http://schemas.openxmlformats.org/drawingml/2006/main" w="0">
            <a:noFill/>
            <a:prstDash val="solid"/>
          </a:ln>
        </p:spPr>
      </p:sp>
      <p:sp>
        <p:nvSpPr>
          <p:cNvPr id="2" name="cover-accent">
            <a:extLst xmlns:a="http://schemas.openxmlformats.org/drawingml/2006/main">
              <a:ext uri="{FF2B5EF4-FFF2-40B4-BE49-F238E27FC236}">
                <a16:creationId xmlns:a16="http://schemas.microsoft.com/office/drawing/2014/main" id="{17CCD6AD-CBD1-4EAE-AAF1-A68D06C2696B}"/>
              </a:ext>
            </a:extLst>
          </p:cNvPr>
          <p:cNvSpPr>
            <a:spLocks xmlns:a="http://schemas.openxmlformats.org/drawingml/2006/main" noGrp="1"/>
          </p:cNvSpPr>
          <p:nvPr/>
        </p:nvSpPr>
        <p:spPr>
          <a:xfrm xmlns:a="http://schemas.openxmlformats.org/drawingml/2006/main">
            <a:off x="495300" y="495300"/>
            <a:ext cx="66675" cy="5867400"/>
          </a:xfrm>
          <a:prstGeom xmlns:a="http://schemas.openxmlformats.org/drawingml/2006/main" prst="rect">
            <a:avLst/>
          </a:prstGeom>
          <a:solidFill xmlns:a="http://schemas.openxmlformats.org/drawingml/2006/main">
            <a:srgbClr val="40D4E8"/>
          </a:solidFill>
          <a:ln xmlns:a="http://schemas.openxmlformats.org/drawingml/2006/main" w="0">
            <a:no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4feccdafc454961"/>
          <a:stretch xmlns:a="http://schemas.openxmlformats.org/drawingml/2006/main"/>
        </p:blipFill>
        <p:spPr>
          <a:xfrm xmlns:a="http://schemas.openxmlformats.org/drawingml/2006/main">
            <a:off x="857250" y="628913"/>
            <a:ext cx="2762250" cy="875773"/>
          </a:xfrm>
          <a:prstGeom xmlns:a="http://schemas.openxmlformats.org/drawingml/2006/main" prst="roundRect">
            <a:avLst>
              <a:gd name="adj" fmla="val 8696"/>
            </a:avLst>
          </a:prstGeom>
        </p:spPr>
      </p:pic>
      <p:sp>
        <p:nvSpPr>
          <p:cNvPr id="4" name="cover-title">
            <a:extLst xmlns:a="http://schemas.openxmlformats.org/drawingml/2006/main">
              <a:ext uri="{FF2B5EF4-FFF2-40B4-BE49-F238E27FC236}">
                <a16:creationId xmlns:a16="http://schemas.microsoft.com/office/drawing/2014/main" id="{9C91F40F-C79D-48FA-8489-71BC230C1E22}"/>
              </a:ext>
            </a:extLst>
          </p:cNvPr>
          <p:cNvSpPr>
            <a:spLocks xmlns:a="http://schemas.openxmlformats.org/drawingml/2006/main" noGrp="1"/>
          </p:cNvSpPr>
          <p:nvPr/>
        </p:nvSpPr>
        <p:spPr>
          <a:xfrm xmlns:a="http://schemas.openxmlformats.org/drawingml/2006/main">
            <a:off x="857250" y="2171700"/>
            <a:ext cx="6286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750" b="1">
                <a:solidFill>
                  <a:srgbClr val="F7F8FC"/>
                </a:solidFill>
                <a:latin typeface="Helvetica Neue"/>
                <a:ea typeface="Helvetica Neue"/>
                <a:cs typeface="Helvetica Neue"/>
              </a:defRPr>
            </a:pPr>
            <a:r>
              <a:rPr sz="3750" b="1">
                <a:solidFill>
                  <a:srgbClr val="F7F8FC"/>
                </a:solidFill>
                <a:latin typeface="Helvetica Neue"/>
                <a:ea typeface="Helvetica Neue"/>
                <a:cs typeface="Helvetica Neue"/>
              </a:rPr>
              <a:t>SAMSUNG TV</a:t>
            </a:r>
          </a:p>
          <a:p xmlns:a="http://schemas.openxmlformats.org/drawingml/2006/main">
            <a:pPr algn="l">
              <a:defRPr sz="3750" b="1">
                <a:solidFill>
                  <a:srgbClr val="F7F8FC"/>
                </a:solidFill>
                <a:latin typeface="Helvetica Neue"/>
                <a:ea typeface="Helvetica Neue"/>
                <a:cs typeface="Helvetica Neue"/>
              </a:defRPr>
            </a:pPr>
            <a:r>
              <a:rPr sz="3750" b="1">
                <a:solidFill>
                  <a:srgbClr val="F7F8FC"/>
                </a:solidFill>
                <a:latin typeface="Helvetica Neue"/>
                <a:ea typeface="Helvetica Neue"/>
                <a:cs typeface="Helvetica Neue"/>
              </a:rPr>
              <a:t>UI DESCRIPTION</a:t>
            </a:r>
          </a:p>
        </p:txBody>
      </p:sp>
      <p:sp>
        <p:nvSpPr>
          <p:cNvPr id="5" name="cover-subtitle">
            <a:extLst xmlns:a="http://schemas.openxmlformats.org/drawingml/2006/main">
              <a:ext uri="{FF2B5EF4-FFF2-40B4-BE49-F238E27FC236}">
                <a16:creationId xmlns:a16="http://schemas.microsoft.com/office/drawing/2014/main" id="{850C2803-D0D1-43C0-941B-6AB37AC2937A}"/>
              </a:ext>
            </a:extLst>
          </p:cNvPr>
          <p:cNvSpPr>
            <a:spLocks xmlns:a="http://schemas.openxmlformats.org/drawingml/2006/main" noGrp="1"/>
          </p:cNvSpPr>
          <p:nvPr/>
        </p:nvSpPr>
        <p:spPr>
          <a:xfrm xmlns:a="http://schemas.openxmlformats.org/drawingml/2006/main">
            <a:off x="876300" y="39624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a:solidFill>
                  <a:srgbClr val="AEB4C4"/>
                </a:solidFill>
                <a:latin typeface="Helvetica Neue"/>
                <a:ea typeface="Helvetica Neue"/>
                <a:cs typeface="Helvetica Neue"/>
              </a:defRPr>
            </a:pPr>
            <a:r>
              <a:rPr sz="1575">
                <a:solidFill>
                  <a:srgbClr val="AEB4C4"/>
                </a:solidFill>
                <a:latin typeface="Helvetica Neue"/>
                <a:ea typeface="Helvetica Neue"/>
                <a:cs typeface="Helvetica Neue"/>
              </a:rPr>
              <a:t>Nuvio TV • Tizen 4+ • Seller Office submission draft</a:t>
            </a:r>
          </a:p>
        </p:txBody>
      </p:sp>
      <p:sp>
        <p:nvSpPr>
          <p:cNvPr id="6" name="cover-description">
            <a:extLst xmlns:a="http://schemas.openxmlformats.org/drawingml/2006/main">
              <a:ext uri="{FF2B5EF4-FFF2-40B4-BE49-F238E27FC236}">
                <a16:creationId xmlns:a16="http://schemas.microsoft.com/office/drawing/2014/main" id="{9029CF0A-037C-4B56-881B-03509D29171F}"/>
              </a:ext>
            </a:extLst>
          </p:cNvPr>
          <p:cNvSpPr>
            <a:spLocks xmlns:a="http://schemas.openxmlformats.org/drawingml/2006/main" noGrp="1"/>
          </p:cNvSpPr>
          <p:nvPr/>
        </p:nvSpPr>
        <p:spPr>
          <a:xfrm xmlns:a="http://schemas.openxmlformats.org/drawingml/2006/main">
            <a:off x="876300" y="4762500"/>
            <a:ext cx="5810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F7F8FC"/>
                </a:solidFill>
                <a:latin typeface="Helvetica Neue"/>
                <a:ea typeface="Helvetica Neue"/>
                <a:cs typeface="Helvetica Neue"/>
              </a:defRPr>
            </a:pPr>
            <a:r>
              <a:rPr sz="1350">
                <a:solidFill>
                  <a:srgbClr val="F7F8FC"/>
                </a:solidFill>
                <a:latin typeface="Helvetica Neue"/>
                <a:ea typeface="Helvetica Neue"/>
                <a:cs typeface="Helvetica Neue"/>
              </a:rPr>
              <a:t>A big-screen media organizer for movies and series.</a:t>
            </a:r>
          </a:p>
          <a:p xmlns:a="http://schemas.openxmlformats.org/drawingml/2006/main">
            <a:pPr algn="l">
              <a:defRPr sz="1350">
                <a:solidFill>
                  <a:srgbClr val="F7F8FC"/>
                </a:solidFill>
                <a:latin typeface="Helvetica Neue"/>
                <a:ea typeface="Helvetica Neue"/>
                <a:cs typeface="Helvetica Neue"/>
              </a:defRPr>
            </a:pPr>
            <a:r>
              <a:rPr sz="1350">
                <a:solidFill>
                  <a:srgbClr val="F7F8FC"/>
                </a:solidFill>
                <a:latin typeface="Helvetica Neue"/>
                <a:ea typeface="Helvetica Neue"/>
                <a:cs typeface="Helvetica Neue"/>
              </a:rPr>
              <a:t>The user brings the sources; Nuvio organizes the experience.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602adbd6bc84b34"/>
          <a:stretch xmlns:a="http://schemas.openxmlformats.org/drawingml/2006/main"/>
        </p:blipFill>
        <p:spPr>
          <a:xfrm xmlns:a="http://schemas.openxmlformats.org/drawingml/2006/main">
            <a:off x="8286750" y="1581150"/>
            <a:ext cx="2571750" cy="2571750"/>
          </a:xfrm>
          <a:prstGeom xmlns:a="http://schemas.openxmlformats.org/drawingml/2006/main" prst="roundRect">
            <a:avLst>
              <a:gd name="adj" fmla="val 2963"/>
            </a:avLst>
          </a:prstGeom>
        </p:spPr>
      </p:pic>
      <p:sp>
        <p:nvSpPr>
          <p:cNvPr id="8" name="cover-meta">
            <a:extLst xmlns:a="http://schemas.openxmlformats.org/drawingml/2006/main">
              <a:ext uri="{FF2B5EF4-FFF2-40B4-BE49-F238E27FC236}">
                <a16:creationId xmlns:a16="http://schemas.microsoft.com/office/drawing/2014/main" id="{AE015BB5-2424-450C-9377-3198AD90B2F0}"/>
              </a:ext>
            </a:extLst>
          </p:cNvPr>
          <p:cNvSpPr>
            <a:spLocks xmlns:a="http://schemas.openxmlformats.org/drawingml/2006/main" noGrp="1"/>
          </p:cNvSpPr>
          <p:nvPr/>
        </p:nvSpPr>
        <p:spPr>
          <a:xfrm xmlns:a="http://schemas.openxmlformats.org/drawingml/2006/main">
            <a:off x="7943850" y="466725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4B83F"/>
                </a:solidFill>
                <a:latin typeface="Helvetica Neue"/>
                <a:ea typeface="Helvetica Neue"/>
                <a:cs typeface="Helvetica Neue"/>
              </a:defRPr>
            </a:pPr>
            <a:r>
              <a:rPr sz="975" b="1">
                <a:solidFill>
                  <a:srgbClr val="F4B83F"/>
                </a:solidFill>
                <a:latin typeface="Helvetica Neue"/>
                <a:ea typeface="Helvetica Neue"/>
                <a:cs typeface="Helvetica Neue"/>
              </a:rPr>
              <a:t>PREPARED FOR CERTIFICATION</a:t>
            </a:r>
          </a:p>
          <a:p xmlns:a="http://schemas.openxmlformats.org/drawingml/2006/main">
            <a:pPr algn="ctr">
              <a:defRPr sz="975" b="1">
                <a:solidFill>
                  <a:srgbClr val="F4B83F"/>
                </a:solidFill>
                <a:latin typeface="Helvetica Neue"/>
                <a:ea typeface="Helvetica Neue"/>
                <a:cs typeface="Helvetica Neue"/>
              </a:defRPr>
            </a:pPr>
            <a:r>
              <a:rPr sz="975" b="1">
                <a:solidFill>
                  <a:srgbClr val="F4B83F"/>
                </a:solidFill>
                <a:latin typeface="Helvetica Neue"/>
                <a:ea typeface="Helvetica Neue"/>
                <a:cs typeface="Helvetica Neue"/>
              </a:rPr>
              <a:t>UI, navigation and test scenario</a:t>
            </a:r>
          </a:p>
        </p:txBody>
      </p:sp>
      <p:sp>
        <p:nvSpPr>
          <p:cNvPr id="9" name="footer-rule">
            <a:extLst xmlns:a="http://schemas.openxmlformats.org/drawingml/2006/main">
              <a:ext uri="{FF2B5EF4-FFF2-40B4-BE49-F238E27FC236}">
                <a16:creationId xmlns:a16="http://schemas.microsoft.com/office/drawing/2014/main" id="{0C8516AD-45A6-4679-9F48-0D148F7C41FF}"/>
              </a:ext>
            </a:extLst>
          </p:cNvPr>
          <p:cNvSpPr>
            <a:spLocks xmlns:a="http://schemas.openxmlformats.org/drawingml/2006/main" noGrp="1"/>
          </p:cNvSpPr>
          <p:nvPr/>
        </p:nvSpPr>
        <p:spPr>
          <a:xfrm xmlns:a="http://schemas.openxmlformats.org/drawingml/2006/main">
            <a:off x="495300" y="6477000"/>
            <a:ext cx="11201400" cy="9525"/>
          </a:xfrm>
          <a:prstGeom xmlns:a="http://schemas.openxmlformats.org/drawingml/2006/main" prst="rect">
            <a:avLst/>
          </a:prstGeom>
          <a:solidFill xmlns:a="http://schemas.openxmlformats.org/drawingml/2006/main">
            <a:srgbClr val="3B4050"/>
          </a:solidFill>
          <a:ln xmlns:a="http://schemas.openxmlformats.org/drawingml/2006/main" w="0">
            <a:noFill/>
            <a:prstDash val="solid"/>
          </a:ln>
        </p:spPr>
      </p:sp>
      <p:sp>
        <p:nvSpPr>
          <p:cNvPr id="10" name="footer">
            <a:extLst xmlns:a="http://schemas.openxmlformats.org/drawingml/2006/main">
              <a:ext uri="{FF2B5EF4-FFF2-40B4-BE49-F238E27FC236}">
                <a16:creationId xmlns:a16="http://schemas.microsoft.com/office/drawing/2014/main" id="{09D59047-06E8-4EE2-8DB8-AE4B1C9D3B04}"/>
              </a:ext>
            </a:extLst>
          </p:cNvPr>
          <p:cNvSpPr>
            <a:spLocks xmlns:a="http://schemas.openxmlformats.org/drawingml/2006/main" noGrp="1"/>
          </p:cNvSpPr>
          <p:nvPr/>
        </p:nvSpPr>
        <p:spPr>
          <a:xfrm xmlns:a="http://schemas.openxmlformats.org/drawingml/2006/main">
            <a:off x="495300" y="6572250"/>
            <a:ext cx="914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a:solidFill>
                  <a:srgbClr val="AEB4C4"/>
                </a:solidFill>
                <a:latin typeface="Helvetica Neue"/>
                <a:ea typeface="Helvetica Neue"/>
                <a:cs typeface="Helvetica Neue"/>
              </a:defRPr>
            </a:pPr>
            <a:r>
              <a:rPr sz="750">
                <a:solidFill>
                  <a:srgbClr val="AEB4C4"/>
                </a:solidFill>
                <a:latin typeface="Helvetica Neue"/>
                <a:ea typeface="Helvetica Neue"/>
                <a:cs typeface="Helvetica Neue"/>
              </a:rPr>
              <a:t>Nuvio TV • Samsung TV UI Description • 2026-08 draft</a:t>
            </a:r>
          </a:p>
        </p:txBody>
      </p:sp>
    </p:spTree>
    <p:extLst>
      <p:ext uri="{BB962C8B-B14F-4D97-AF65-F5344CB8AC3E}">
        <p14:creationId xmlns:p14="http://schemas.microsoft.com/office/powerpoint/2010/main" val="1529884248"/>
      </p:ext>
    </p:extLst>
  </p:cSld>
</p:sld>
</file>

<file path=ppt/slides/slide2.xml><?xml version="1.0" encoding="utf-8"?>
<p:sld xmlns:p="http://schemas.openxmlformats.org/presentationml/2006/main">
  <p:cSld>
    <p:bg>
      <p:bgPr>
        <a:solidFill xmlns:a="http://schemas.openxmlformats.org/drawingml/2006/main">
          <a:srgbClr val="101116"/>
        </a:solidFill>
      </p:bgPr>
    </p:bg>
    <p:spTree>
      <p:nvGrpSpPr>
        <p:cNvPr id="1" name=""/>
        <p:cNvGrpSpPr/>
        <p:nvPr/>
      </p:nvGrpSpPr>
      <p:grpSpPr>
        <a:xfrm xmlns:a="http://schemas.openxmlformats.org/drawingml/2006/main"/>
      </p:grpSpPr>
      <p:sp>
        <p:nvSpPr>
          <p:cNvPr id="24" name="eyebrow-2">
            <a:extLst xmlns:a="http://schemas.openxmlformats.org/drawingml/2006/main">
              <a:ext uri="{FF2B5EF4-FFF2-40B4-BE49-F238E27FC236}">
                <a16:creationId xmlns:a16="http://schemas.microsoft.com/office/drawing/2014/main" id="{88EE3C5F-17F7-4579-B6DF-CA7298212E44}"/>
              </a:ext>
            </a:extLst>
          </p:cNvPr>
          <p:cNvSpPr>
            <a:spLocks xmlns:a="http://schemas.openxmlformats.org/drawingml/2006/main" noGrp="1"/>
          </p:cNvSpPr>
          <p:nvPr/>
        </p:nvSpPr>
        <p:spPr>
          <a:xfrm xmlns:a="http://schemas.openxmlformats.org/drawingml/2006/main">
            <a:off x="4953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40D4E8"/>
                </a:solidFill>
                <a:latin typeface="Helvetica Neue"/>
                <a:ea typeface="Helvetica Neue"/>
                <a:cs typeface="Helvetica Neue"/>
              </a:defRPr>
            </a:pPr>
            <a:r>
              <a:rPr sz="900" b="1">
                <a:solidFill>
                  <a:srgbClr val="40D4E8"/>
                </a:solidFill>
                <a:latin typeface="Helvetica Neue"/>
                <a:ea typeface="Helvetica Neue"/>
                <a:cs typeface="Helvetica Neue"/>
              </a:rPr>
              <a:t>PRODUCT OVERVIEW</a:t>
            </a:r>
          </a:p>
        </p:txBody>
      </p:sp>
      <p:sp>
        <p:nvSpPr>
          <p:cNvPr id="2" name="title-2">
            <a:extLst xmlns:a="http://schemas.openxmlformats.org/drawingml/2006/main">
              <a:ext uri="{FF2B5EF4-FFF2-40B4-BE49-F238E27FC236}">
                <a16:creationId xmlns:a16="http://schemas.microsoft.com/office/drawing/2014/main" id="{66055869-3608-42BA-8B5B-E1A57BB76566}"/>
              </a:ext>
            </a:extLst>
          </p:cNvPr>
          <p:cNvSpPr>
            <a:spLocks xmlns:a="http://schemas.openxmlformats.org/drawingml/2006/main" noGrp="1"/>
          </p:cNvSpPr>
          <p:nvPr/>
        </p:nvSpPr>
        <p:spPr>
          <a:xfrm xmlns:a="http://schemas.openxmlformats.org/drawingml/2006/main">
            <a:off x="495300" y="685800"/>
            <a:ext cx="981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8FC"/>
                </a:solidFill>
                <a:latin typeface="Helvetica Neue"/>
                <a:ea typeface="Helvetica Neue"/>
                <a:cs typeface="Helvetica Neue"/>
              </a:defRPr>
            </a:pPr>
            <a:r>
              <a:rPr sz="2550" b="1">
                <a:solidFill>
                  <a:srgbClr val="F7F8FC"/>
                </a:solidFill>
                <a:latin typeface="Helvetica Neue"/>
                <a:ea typeface="Helvetica Neue"/>
                <a:cs typeface="Helvetica Neue"/>
              </a:rPr>
              <a:t>What the TV app does</a:t>
            </a:r>
          </a:p>
        </p:txBody>
      </p:sp>
      <p:sp>
        <p:nvSpPr>
          <p:cNvPr id="3" name="page-2">
            <a:extLst xmlns:a="http://schemas.openxmlformats.org/drawingml/2006/main">
              <a:ext uri="{FF2B5EF4-FFF2-40B4-BE49-F238E27FC236}">
                <a16:creationId xmlns:a16="http://schemas.microsoft.com/office/drawing/2014/main" id="{91AD6E4A-0CA2-4D3C-A3BE-4E67C25D149E}"/>
              </a:ext>
            </a:extLst>
          </p:cNvPr>
          <p:cNvSpPr>
            <a:spLocks xmlns:a="http://schemas.openxmlformats.org/drawingml/2006/main" noGrp="1"/>
          </p:cNvSpPr>
          <p:nvPr/>
        </p:nvSpPr>
        <p:spPr>
          <a:xfrm xmlns:a="http://schemas.openxmlformats.org/drawingml/2006/main">
            <a:off x="11239500" y="3619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AEB4C4"/>
                </a:solidFill>
                <a:latin typeface="Helvetica Neue"/>
                <a:ea typeface="Helvetica Neue"/>
                <a:cs typeface="Helvetica Neue"/>
              </a:defRPr>
            </a:pPr>
            <a:r>
              <a:rPr sz="1050" b="1">
                <a:solidFill>
                  <a:srgbClr val="AEB4C4"/>
                </a:solidFill>
                <a:latin typeface="Helvetica Neue"/>
                <a:ea typeface="Helvetica Neue"/>
                <a:cs typeface="Helvetica Neue"/>
              </a:rPr>
              <a:t>02</a:t>
            </a:r>
          </a:p>
        </p:txBody>
      </p:sp>
      <p:sp>
        <p:nvSpPr>
          <p:cNvPr id="4" name="overview-panel">
            <a:extLst xmlns:a="http://schemas.openxmlformats.org/drawingml/2006/main">
              <a:ext uri="{FF2B5EF4-FFF2-40B4-BE49-F238E27FC236}">
                <a16:creationId xmlns:a16="http://schemas.microsoft.com/office/drawing/2014/main" id="{1736CB40-EEE9-45E5-B43D-E84916F9AE4B}"/>
              </a:ext>
            </a:extLst>
          </p:cNvPr>
          <p:cNvSpPr>
            <a:spLocks xmlns:a="http://schemas.openxmlformats.org/drawingml/2006/main" noGrp="1"/>
          </p:cNvSpPr>
          <p:nvPr/>
        </p:nvSpPr>
        <p:spPr>
          <a:xfrm xmlns:a="http://schemas.openxmlformats.org/drawingml/2006/main">
            <a:off x="495300" y="1638300"/>
            <a:ext cx="5143500" cy="4095750"/>
          </a:xfrm>
          <a:prstGeom xmlns:a="http://schemas.openxmlformats.org/drawingml/2006/main" prst="roundRect">
            <a:avLst>
              <a:gd name="adj" fmla="val 3721"/>
            </a:avLst>
          </a:prstGeom>
          <a:solidFill xmlns:a="http://schemas.openxmlformats.org/drawingml/2006/main">
            <a:srgbClr val="1A1C24"/>
          </a:solidFill>
          <a:ln xmlns:a="http://schemas.openxmlformats.org/drawingml/2006/main" w="9525">
            <a:solidFill>
              <a:srgbClr val="3B4050"/>
            </a:solidFill>
            <a:prstDash val="solid"/>
          </a:ln>
        </p:spPr>
      </p:sp>
      <p:sp>
        <p:nvSpPr>
          <p:cNvPr id="5" name="overview-heading">
            <a:extLst xmlns:a="http://schemas.openxmlformats.org/drawingml/2006/main">
              <a:ext uri="{FF2B5EF4-FFF2-40B4-BE49-F238E27FC236}">
                <a16:creationId xmlns:a16="http://schemas.microsoft.com/office/drawing/2014/main" id="{A6E40B43-CFCC-4DA3-BCEC-89A6FC2CBD6D}"/>
              </a:ext>
            </a:extLst>
          </p:cNvPr>
          <p:cNvSpPr>
            <a:spLocks xmlns:a="http://schemas.openxmlformats.org/drawingml/2006/main" noGrp="1"/>
          </p:cNvSpPr>
          <p:nvPr/>
        </p:nvSpPr>
        <p:spPr>
          <a:xfrm xmlns:a="http://schemas.openxmlformats.org/drawingml/2006/main">
            <a:off x="781050" y="1962150"/>
            <a:ext cx="419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7F8FC"/>
                </a:solidFill>
                <a:latin typeface="Helvetica Neue"/>
                <a:ea typeface="Helvetica Neue"/>
                <a:cs typeface="Helvetica Neue"/>
              </a:defRPr>
            </a:pPr>
            <a:r>
              <a:rPr sz="1950" b="1">
                <a:solidFill>
                  <a:srgbClr val="F7F8FC"/>
                </a:solidFill>
                <a:latin typeface="Helvetica Neue"/>
                <a:ea typeface="Helvetica Neue"/>
                <a:cs typeface="Helvetica Neue"/>
              </a:rPr>
              <a:t>A focused TV experience</a:t>
            </a:r>
          </a:p>
        </p:txBody>
      </p:sp>
      <p:sp>
        <p:nvSpPr>
          <p:cNvPr id="6" name="overview-body">
            <a:extLst xmlns:a="http://schemas.openxmlformats.org/drawingml/2006/main">
              <a:ext uri="{FF2B5EF4-FFF2-40B4-BE49-F238E27FC236}">
                <a16:creationId xmlns:a16="http://schemas.microsoft.com/office/drawing/2014/main" id="{E686AEE7-F02C-495A-AFD2-D1C47B299D6E}"/>
              </a:ext>
            </a:extLst>
          </p:cNvPr>
          <p:cNvSpPr>
            <a:spLocks xmlns:a="http://schemas.openxmlformats.org/drawingml/2006/main" noGrp="1"/>
          </p:cNvSpPr>
          <p:nvPr/>
        </p:nvSpPr>
        <p:spPr>
          <a:xfrm xmlns:a="http://schemas.openxmlformats.org/drawingml/2006/main">
            <a:off x="781050" y="2514600"/>
            <a:ext cx="4286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a:solidFill>
                  <a:srgbClr val="AEB4C4"/>
                </a:solidFill>
                <a:latin typeface="Helvetica Neue"/>
                <a:ea typeface="Helvetica Neue"/>
                <a:cs typeface="Helvetica Neue"/>
              </a:defRPr>
            </a:pPr>
            <a:r>
              <a:rPr sz="1425">
                <a:solidFill>
                  <a:srgbClr val="AEB4C4"/>
                </a:solidFill>
                <a:latin typeface="Helvetica Neue"/>
                <a:ea typeface="Helvetica Neue"/>
                <a:cs typeface="Helvetica Neue"/>
              </a:rPr>
              <a:t>Nuvio is a modern media organizer for movies and TV shows. It helps users discover titles, build a library, save favorites, track progress and keep their watch history in sync with supported services.</a:t>
            </a:r>
          </a:p>
        </p:txBody>
      </p:sp>
      <p:sp>
        <p:nvSpPr>
          <p:cNvPr id="7" name="overview-disclosure">
            <a:extLst xmlns:a="http://schemas.openxmlformats.org/drawingml/2006/main">
              <a:ext uri="{FF2B5EF4-FFF2-40B4-BE49-F238E27FC236}">
                <a16:creationId xmlns:a16="http://schemas.microsoft.com/office/drawing/2014/main" id="{E4AC5FA6-6E57-4E1F-8B21-F1DAAD485539}"/>
              </a:ext>
            </a:extLst>
          </p:cNvPr>
          <p:cNvSpPr>
            <a:spLocks xmlns:a="http://schemas.openxmlformats.org/drawingml/2006/main" noGrp="1"/>
          </p:cNvSpPr>
          <p:nvPr/>
        </p:nvSpPr>
        <p:spPr>
          <a:xfrm xmlns:a="http://schemas.openxmlformats.org/drawingml/2006/main">
            <a:off x="781050" y="4114800"/>
            <a:ext cx="42862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F7F8FC"/>
                </a:solidFill>
                <a:latin typeface="Helvetica Neue"/>
                <a:ea typeface="Helvetica Neue"/>
                <a:cs typeface="Helvetica Neue"/>
              </a:defRPr>
            </a:pPr>
            <a:r>
              <a:rPr sz="1275">
                <a:solidFill>
                  <a:srgbClr val="F7F8FC"/>
                </a:solidFill>
                <a:latin typeface="Helvetica Neue"/>
                <a:ea typeface="Helvetica Neue"/>
                <a:cs typeface="Helvetica Neue"/>
              </a:rPr>
              <a:t>Nuvio does not host a catalog or video library. Catalogs and playable sources come from the user’s configured add-ons and supported services.</a:t>
            </a:r>
          </a:p>
        </p:txBody>
      </p:sp>
      <p:sp>
        <p:nvSpPr>
          <p:cNvPr id="8" name="nav-panel">
            <a:extLst xmlns:a="http://schemas.openxmlformats.org/drawingml/2006/main">
              <a:ext uri="{FF2B5EF4-FFF2-40B4-BE49-F238E27FC236}">
                <a16:creationId xmlns:a16="http://schemas.microsoft.com/office/drawing/2014/main" id="{1D015107-B77B-484B-B30E-E9F188EA0173}"/>
              </a:ext>
            </a:extLst>
          </p:cNvPr>
          <p:cNvSpPr>
            <a:spLocks xmlns:a="http://schemas.openxmlformats.org/drawingml/2006/main" noGrp="1"/>
          </p:cNvSpPr>
          <p:nvPr/>
        </p:nvSpPr>
        <p:spPr>
          <a:xfrm xmlns:a="http://schemas.openxmlformats.org/drawingml/2006/main">
            <a:off x="5905500" y="1638300"/>
            <a:ext cx="5791200" cy="4095750"/>
          </a:xfrm>
          <a:prstGeom xmlns:a="http://schemas.openxmlformats.org/drawingml/2006/main" prst="roundRect">
            <a:avLst>
              <a:gd name="adj" fmla="val 3721"/>
            </a:avLst>
          </a:prstGeom>
          <a:solidFill xmlns:a="http://schemas.openxmlformats.org/drawingml/2006/main">
            <a:srgbClr val="1A1C24"/>
          </a:solidFill>
          <a:ln xmlns:a="http://schemas.openxmlformats.org/drawingml/2006/main" w="9525">
            <a:solidFill>
              <a:srgbClr val="3B4050"/>
            </a:solidFill>
            <a:prstDash val="solid"/>
          </a:ln>
        </p:spPr>
      </p:sp>
      <p:sp>
        <p:nvSpPr>
          <p:cNvPr id="9" name="nav-heading">
            <a:extLst xmlns:a="http://schemas.openxmlformats.org/drawingml/2006/main">
              <a:ext uri="{FF2B5EF4-FFF2-40B4-BE49-F238E27FC236}">
                <a16:creationId xmlns:a16="http://schemas.microsoft.com/office/drawing/2014/main" id="{FFEC2514-5C1C-47AF-A28F-3068E7CB9471}"/>
              </a:ext>
            </a:extLst>
          </p:cNvPr>
          <p:cNvSpPr>
            <a:spLocks xmlns:a="http://schemas.openxmlformats.org/drawingml/2006/main" noGrp="1"/>
          </p:cNvSpPr>
          <p:nvPr/>
        </p:nvSpPr>
        <p:spPr>
          <a:xfrm xmlns:a="http://schemas.openxmlformats.org/drawingml/2006/main">
            <a:off x="6229350" y="19621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1">
                <a:solidFill>
                  <a:srgbClr val="F7F8FC"/>
                </a:solidFill>
                <a:latin typeface="Helvetica Neue"/>
                <a:ea typeface="Helvetica Neue"/>
                <a:cs typeface="Helvetica Neue"/>
              </a:defRPr>
            </a:pPr>
            <a:r>
              <a:rPr sz="1950" b="1">
                <a:solidFill>
                  <a:srgbClr val="F7F8FC"/>
                </a:solidFill>
                <a:latin typeface="Helvetica Neue"/>
                <a:ea typeface="Helvetica Neue"/>
                <a:cs typeface="Helvetica Neue"/>
              </a:rPr>
              <a:t>Primary navigation</a:t>
            </a:r>
          </a:p>
        </p:txBody>
      </p:sp>
      <p:sp>
        <p:nvSpPr>
          <p:cNvPr id="10" name="nav-chip-0">
            <a:extLst xmlns:a="http://schemas.openxmlformats.org/drawingml/2006/main">
              <a:ext uri="{FF2B5EF4-FFF2-40B4-BE49-F238E27FC236}">
                <a16:creationId xmlns:a16="http://schemas.microsoft.com/office/drawing/2014/main" id="{2EED562C-A256-47FE-B6E5-39F699FB4A2E}"/>
              </a:ext>
            </a:extLst>
          </p:cNvPr>
          <p:cNvSpPr>
            <a:spLocks xmlns:a="http://schemas.openxmlformats.org/drawingml/2006/main" noGrp="1"/>
          </p:cNvSpPr>
          <p:nvPr/>
        </p:nvSpPr>
        <p:spPr>
          <a:xfrm xmlns:a="http://schemas.openxmlformats.org/drawingml/2006/main">
            <a:off x="6229350" y="2571750"/>
            <a:ext cx="1371600" cy="361950"/>
          </a:xfrm>
          <a:prstGeom xmlns:a="http://schemas.openxmlformats.org/drawingml/2006/main" prst="roundRect">
            <a:avLst>
              <a:gd name="adj" fmla="val 21053"/>
            </a:avLst>
          </a:prstGeom>
          <a:solidFill xmlns:a="http://schemas.openxmlformats.org/drawingml/2006/main">
            <a:srgbClr val="A64BEE"/>
          </a:solidFill>
          <a:ln xmlns:a="http://schemas.openxmlformats.org/drawingml/2006/main" w="0">
            <a:noFill/>
            <a:prstDash val="solid"/>
          </a:ln>
        </p:spPr>
      </p:sp>
      <p:sp>
        <p:nvSpPr>
          <p:cNvPr id="11" name="nav-label-0">
            <a:extLst xmlns:a="http://schemas.openxmlformats.org/drawingml/2006/main">
              <a:ext uri="{FF2B5EF4-FFF2-40B4-BE49-F238E27FC236}">
                <a16:creationId xmlns:a16="http://schemas.microsoft.com/office/drawing/2014/main" id="{529BA5C5-125C-4AF1-8821-74A86A1C07A2}"/>
              </a:ext>
            </a:extLst>
          </p:cNvPr>
          <p:cNvSpPr>
            <a:spLocks xmlns:a="http://schemas.openxmlformats.org/drawingml/2006/main" noGrp="1"/>
          </p:cNvSpPr>
          <p:nvPr/>
        </p:nvSpPr>
        <p:spPr>
          <a:xfrm xmlns:a="http://schemas.openxmlformats.org/drawingml/2006/main">
            <a:off x="6362700" y="2667000"/>
            <a:ext cx="110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7F8FC"/>
                </a:solidFill>
                <a:latin typeface="Helvetica Neue"/>
                <a:ea typeface="Helvetica Neue"/>
                <a:cs typeface="Helvetica Neue"/>
              </a:defRPr>
            </a:pPr>
            <a:r>
              <a:rPr sz="900" b="1">
                <a:solidFill>
                  <a:srgbClr val="F7F8FC"/>
                </a:solidFill>
                <a:latin typeface="Helvetica Neue"/>
                <a:ea typeface="Helvetica Neue"/>
                <a:cs typeface="Helvetica Neue"/>
              </a:rPr>
              <a:t>HOME</a:t>
            </a:r>
          </a:p>
        </p:txBody>
      </p:sp>
      <p:sp>
        <p:nvSpPr>
          <p:cNvPr id="12" name="nav-value-0">
            <a:extLst xmlns:a="http://schemas.openxmlformats.org/drawingml/2006/main">
              <a:ext uri="{FF2B5EF4-FFF2-40B4-BE49-F238E27FC236}">
                <a16:creationId xmlns:a16="http://schemas.microsoft.com/office/drawing/2014/main" id="{3E08270F-59AB-491C-B67B-8682B3450854}"/>
              </a:ext>
            </a:extLst>
          </p:cNvPr>
          <p:cNvSpPr>
            <a:spLocks xmlns:a="http://schemas.openxmlformats.org/drawingml/2006/main" noGrp="1"/>
          </p:cNvSpPr>
          <p:nvPr/>
        </p:nvSpPr>
        <p:spPr>
          <a:xfrm xmlns:a="http://schemas.openxmlformats.org/drawingml/2006/main">
            <a:off x="7810500" y="26098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AEB4C4"/>
                </a:solidFill>
                <a:latin typeface="Helvetica Neue"/>
                <a:ea typeface="Helvetica Neue"/>
                <a:cs typeface="Helvetica Neue"/>
              </a:defRPr>
            </a:pPr>
            <a:r>
              <a:rPr sz="1200">
                <a:solidFill>
                  <a:srgbClr val="AEB4C4"/>
                </a:solidFill>
                <a:latin typeface="Helvetica Neue"/>
                <a:ea typeface="Helvetica Neue"/>
                <a:cs typeface="Helvetica Neue"/>
              </a:rPr>
              <a:t>Featured and popular rows with a focused hero area.</a:t>
            </a:r>
          </a:p>
        </p:txBody>
      </p:sp>
      <p:sp>
        <p:nvSpPr>
          <p:cNvPr id="13" name="nav-chip-1">
            <a:extLst xmlns:a="http://schemas.openxmlformats.org/drawingml/2006/main">
              <a:ext uri="{FF2B5EF4-FFF2-40B4-BE49-F238E27FC236}">
                <a16:creationId xmlns:a16="http://schemas.microsoft.com/office/drawing/2014/main" id="{D50CD6F2-65A9-46ED-8CF0-052E4C69E319}"/>
              </a:ext>
            </a:extLst>
          </p:cNvPr>
          <p:cNvSpPr>
            <a:spLocks xmlns:a="http://schemas.openxmlformats.org/drawingml/2006/main" noGrp="1"/>
          </p:cNvSpPr>
          <p:nvPr/>
        </p:nvSpPr>
        <p:spPr>
          <a:xfrm xmlns:a="http://schemas.openxmlformats.org/drawingml/2006/main">
            <a:off x="6229350" y="3238500"/>
            <a:ext cx="1371600" cy="361950"/>
          </a:xfrm>
          <a:prstGeom xmlns:a="http://schemas.openxmlformats.org/drawingml/2006/main" prst="roundRect">
            <a:avLst>
              <a:gd name="adj" fmla="val 21053"/>
            </a:avLst>
          </a:prstGeom>
          <a:solidFill xmlns:a="http://schemas.openxmlformats.org/drawingml/2006/main">
            <a:srgbClr val="232631"/>
          </a:solidFill>
          <a:ln xmlns:a="http://schemas.openxmlformats.org/drawingml/2006/main" w="0">
            <a:noFill/>
            <a:prstDash val="solid"/>
          </a:ln>
        </p:spPr>
      </p:sp>
      <p:sp>
        <p:nvSpPr>
          <p:cNvPr id="14" name="nav-label-1">
            <a:extLst xmlns:a="http://schemas.openxmlformats.org/drawingml/2006/main">
              <a:ext uri="{FF2B5EF4-FFF2-40B4-BE49-F238E27FC236}">
                <a16:creationId xmlns:a16="http://schemas.microsoft.com/office/drawing/2014/main" id="{00BDA35E-AA11-4F4B-8B44-7E175BC7BCD5}"/>
              </a:ext>
            </a:extLst>
          </p:cNvPr>
          <p:cNvSpPr>
            <a:spLocks xmlns:a="http://schemas.openxmlformats.org/drawingml/2006/main" noGrp="1"/>
          </p:cNvSpPr>
          <p:nvPr/>
        </p:nvSpPr>
        <p:spPr>
          <a:xfrm xmlns:a="http://schemas.openxmlformats.org/drawingml/2006/main">
            <a:off x="6362700" y="3333750"/>
            <a:ext cx="110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7F8FC"/>
                </a:solidFill>
                <a:latin typeface="Helvetica Neue"/>
                <a:ea typeface="Helvetica Neue"/>
                <a:cs typeface="Helvetica Neue"/>
              </a:defRPr>
            </a:pPr>
            <a:r>
              <a:rPr sz="900" b="1">
                <a:solidFill>
                  <a:srgbClr val="F7F8FC"/>
                </a:solidFill>
                <a:latin typeface="Helvetica Neue"/>
                <a:ea typeface="Helvetica Neue"/>
                <a:cs typeface="Helvetica Neue"/>
              </a:rPr>
              <a:t>CERCA</a:t>
            </a:r>
          </a:p>
        </p:txBody>
      </p:sp>
      <p:sp>
        <p:nvSpPr>
          <p:cNvPr id="15" name="nav-value-1">
            <a:extLst xmlns:a="http://schemas.openxmlformats.org/drawingml/2006/main">
              <a:ext uri="{FF2B5EF4-FFF2-40B4-BE49-F238E27FC236}">
                <a16:creationId xmlns:a16="http://schemas.microsoft.com/office/drawing/2014/main" id="{31B8A23A-7BB5-442A-A5A4-1C0BB98F40DE}"/>
              </a:ext>
            </a:extLst>
          </p:cNvPr>
          <p:cNvSpPr>
            <a:spLocks xmlns:a="http://schemas.openxmlformats.org/drawingml/2006/main" noGrp="1"/>
          </p:cNvSpPr>
          <p:nvPr/>
        </p:nvSpPr>
        <p:spPr>
          <a:xfrm xmlns:a="http://schemas.openxmlformats.org/drawingml/2006/main">
            <a:off x="7810500" y="32766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AEB4C4"/>
                </a:solidFill>
                <a:latin typeface="Helvetica Neue"/>
                <a:ea typeface="Helvetica Neue"/>
                <a:cs typeface="Helvetica Neue"/>
              </a:defRPr>
            </a:pPr>
            <a:r>
              <a:rPr sz="1200">
                <a:solidFill>
                  <a:srgbClr val="AEB4C4"/>
                </a:solidFill>
                <a:latin typeface="Helvetica Neue"/>
                <a:ea typeface="Helvetica Neue"/>
                <a:cs typeface="Helvetica Neue"/>
              </a:rPr>
              <a:t>Search titles and browse results from configured catalogs.</a:t>
            </a:r>
          </a:p>
        </p:txBody>
      </p:sp>
      <p:sp>
        <p:nvSpPr>
          <p:cNvPr id="16" name="nav-chip-2">
            <a:extLst xmlns:a="http://schemas.openxmlformats.org/drawingml/2006/main">
              <a:ext uri="{FF2B5EF4-FFF2-40B4-BE49-F238E27FC236}">
                <a16:creationId xmlns:a16="http://schemas.microsoft.com/office/drawing/2014/main" id="{2764611C-B067-4954-A575-EEBF780B9FF0}"/>
              </a:ext>
            </a:extLst>
          </p:cNvPr>
          <p:cNvSpPr>
            <a:spLocks xmlns:a="http://schemas.openxmlformats.org/drawingml/2006/main" noGrp="1"/>
          </p:cNvSpPr>
          <p:nvPr/>
        </p:nvSpPr>
        <p:spPr>
          <a:xfrm xmlns:a="http://schemas.openxmlformats.org/drawingml/2006/main">
            <a:off x="6229350" y="3905250"/>
            <a:ext cx="1371600" cy="361950"/>
          </a:xfrm>
          <a:prstGeom xmlns:a="http://schemas.openxmlformats.org/drawingml/2006/main" prst="roundRect">
            <a:avLst>
              <a:gd name="adj" fmla="val 21053"/>
            </a:avLst>
          </a:prstGeom>
          <a:solidFill xmlns:a="http://schemas.openxmlformats.org/drawingml/2006/main">
            <a:srgbClr val="232631"/>
          </a:solidFill>
          <a:ln xmlns:a="http://schemas.openxmlformats.org/drawingml/2006/main" w="0">
            <a:noFill/>
            <a:prstDash val="solid"/>
          </a:ln>
        </p:spPr>
      </p:sp>
      <p:sp>
        <p:nvSpPr>
          <p:cNvPr id="17" name="nav-label-2">
            <a:extLst xmlns:a="http://schemas.openxmlformats.org/drawingml/2006/main">
              <a:ext uri="{FF2B5EF4-FFF2-40B4-BE49-F238E27FC236}">
                <a16:creationId xmlns:a16="http://schemas.microsoft.com/office/drawing/2014/main" id="{FA954E9B-4A68-4915-A9F6-DB12CA6F2A27}"/>
              </a:ext>
            </a:extLst>
          </p:cNvPr>
          <p:cNvSpPr>
            <a:spLocks xmlns:a="http://schemas.openxmlformats.org/drawingml/2006/main" noGrp="1"/>
          </p:cNvSpPr>
          <p:nvPr/>
        </p:nvSpPr>
        <p:spPr>
          <a:xfrm xmlns:a="http://schemas.openxmlformats.org/drawingml/2006/main">
            <a:off x="6362700" y="4000500"/>
            <a:ext cx="110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7F8FC"/>
                </a:solidFill>
                <a:latin typeface="Helvetica Neue"/>
                <a:ea typeface="Helvetica Neue"/>
                <a:cs typeface="Helvetica Neue"/>
              </a:defRPr>
            </a:pPr>
            <a:r>
              <a:rPr sz="900" b="1">
                <a:solidFill>
                  <a:srgbClr val="F7F8FC"/>
                </a:solidFill>
                <a:latin typeface="Helvetica Neue"/>
                <a:ea typeface="Helvetica Neue"/>
                <a:cs typeface="Helvetica Neue"/>
              </a:rPr>
              <a:t>LIBRERIA</a:t>
            </a:r>
          </a:p>
        </p:txBody>
      </p:sp>
      <p:sp>
        <p:nvSpPr>
          <p:cNvPr id="18" name="nav-value-2">
            <a:extLst xmlns:a="http://schemas.openxmlformats.org/drawingml/2006/main">
              <a:ext uri="{FF2B5EF4-FFF2-40B4-BE49-F238E27FC236}">
                <a16:creationId xmlns:a16="http://schemas.microsoft.com/office/drawing/2014/main" id="{D335CA60-22BE-461E-8A51-808CA5C37F54}"/>
              </a:ext>
            </a:extLst>
          </p:cNvPr>
          <p:cNvSpPr>
            <a:spLocks xmlns:a="http://schemas.openxmlformats.org/drawingml/2006/main" noGrp="1"/>
          </p:cNvSpPr>
          <p:nvPr/>
        </p:nvSpPr>
        <p:spPr>
          <a:xfrm xmlns:a="http://schemas.openxmlformats.org/drawingml/2006/main">
            <a:off x="7810500" y="39433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AEB4C4"/>
                </a:solidFill>
                <a:latin typeface="Helvetica Neue"/>
                <a:ea typeface="Helvetica Neue"/>
                <a:cs typeface="Helvetica Neue"/>
              </a:defRPr>
            </a:pPr>
            <a:r>
              <a:rPr sz="1200">
                <a:solidFill>
                  <a:srgbClr val="AEB4C4"/>
                </a:solidFill>
                <a:latin typeface="Helvetica Neue"/>
                <a:ea typeface="Helvetica Neue"/>
                <a:cs typeface="Helvetica Neue"/>
              </a:rPr>
              <a:t>Saved titles, cloud libraries and progress-oriented views.</a:t>
            </a:r>
          </a:p>
        </p:txBody>
      </p:sp>
      <p:sp>
        <p:nvSpPr>
          <p:cNvPr id="19" name="nav-chip-3">
            <a:extLst xmlns:a="http://schemas.openxmlformats.org/drawingml/2006/main">
              <a:ext uri="{FF2B5EF4-FFF2-40B4-BE49-F238E27FC236}">
                <a16:creationId xmlns:a16="http://schemas.microsoft.com/office/drawing/2014/main" id="{AE1D57C2-AF7D-473E-BAB8-36942AE40C75}"/>
              </a:ext>
            </a:extLst>
          </p:cNvPr>
          <p:cNvSpPr>
            <a:spLocks xmlns:a="http://schemas.openxmlformats.org/drawingml/2006/main" noGrp="1"/>
          </p:cNvSpPr>
          <p:nvPr/>
        </p:nvSpPr>
        <p:spPr>
          <a:xfrm xmlns:a="http://schemas.openxmlformats.org/drawingml/2006/main">
            <a:off x="6229350" y="4572000"/>
            <a:ext cx="1371600" cy="361950"/>
          </a:xfrm>
          <a:prstGeom xmlns:a="http://schemas.openxmlformats.org/drawingml/2006/main" prst="roundRect">
            <a:avLst>
              <a:gd name="adj" fmla="val 21053"/>
            </a:avLst>
          </a:prstGeom>
          <a:solidFill xmlns:a="http://schemas.openxmlformats.org/drawingml/2006/main">
            <a:srgbClr val="232631"/>
          </a:solidFill>
          <a:ln xmlns:a="http://schemas.openxmlformats.org/drawingml/2006/main" w="0">
            <a:noFill/>
            <a:prstDash val="solid"/>
          </a:ln>
        </p:spPr>
      </p:sp>
      <p:sp>
        <p:nvSpPr>
          <p:cNvPr id="20" name="nav-label-3">
            <a:extLst xmlns:a="http://schemas.openxmlformats.org/drawingml/2006/main">
              <a:ext uri="{FF2B5EF4-FFF2-40B4-BE49-F238E27FC236}">
                <a16:creationId xmlns:a16="http://schemas.microsoft.com/office/drawing/2014/main" id="{21EDB3E1-A9B9-4AF5-B198-80E56E657A8D}"/>
              </a:ext>
            </a:extLst>
          </p:cNvPr>
          <p:cNvSpPr>
            <a:spLocks xmlns:a="http://schemas.openxmlformats.org/drawingml/2006/main" noGrp="1"/>
          </p:cNvSpPr>
          <p:nvPr/>
        </p:nvSpPr>
        <p:spPr>
          <a:xfrm xmlns:a="http://schemas.openxmlformats.org/drawingml/2006/main">
            <a:off x="6362700" y="4667250"/>
            <a:ext cx="1104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7F8FC"/>
                </a:solidFill>
                <a:latin typeface="Helvetica Neue"/>
                <a:ea typeface="Helvetica Neue"/>
                <a:cs typeface="Helvetica Neue"/>
              </a:defRPr>
            </a:pPr>
            <a:r>
              <a:rPr sz="900" b="1">
                <a:solidFill>
                  <a:srgbClr val="F7F8FC"/>
                </a:solidFill>
                <a:latin typeface="Helvetica Neue"/>
                <a:ea typeface="Helvetica Neue"/>
                <a:cs typeface="Helvetica Neue"/>
              </a:rPr>
              <a:t>IMPOSTAZIONI</a:t>
            </a:r>
          </a:p>
        </p:txBody>
      </p:sp>
      <p:sp>
        <p:nvSpPr>
          <p:cNvPr id="21" name="nav-value-3">
            <a:extLst xmlns:a="http://schemas.openxmlformats.org/drawingml/2006/main">
              <a:ext uri="{FF2B5EF4-FFF2-40B4-BE49-F238E27FC236}">
                <a16:creationId xmlns:a16="http://schemas.microsoft.com/office/drawing/2014/main" id="{64B57F8C-801A-4918-BB33-D42520721FC1}"/>
              </a:ext>
            </a:extLst>
          </p:cNvPr>
          <p:cNvSpPr>
            <a:spLocks xmlns:a="http://schemas.openxmlformats.org/drawingml/2006/main" noGrp="1"/>
          </p:cNvSpPr>
          <p:nvPr/>
        </p:nvSpPr>
        <p:spPr>
          <a:xfrm xmlns:a="http://schemas.openxmlformats.org/drawingml/2006/main">
            <a:off x="7810500" y="461010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AEB4C4"/>
                </a:solidFill>
                <a:latin typeface="Helvetica Neue"/>
                <a:ea typeface="Helvetica Neue"/>
                <a:cs typeface="Helvetica Neue"/>
              </a:defRPr>
            </a:pPr>
            <a:r>
              <a:rPr sz="1200">
                <a:solidFill>
                  <a:srgbClr val="AEB4C4"/>
                </a:solidFill>
                <a:latin typeface="Helvetica Neue"/>
                <a:ea typeface="Helvetica Neue"/>
                <a:cs typeface="Helvetica Neue"/>
              </a:rPr>
              <a:t>Profiles, integrations, playback, appearance and support.</a:t>
            </a:r>
          </a:p>
        </p:txBody>
      </p:sp>
      <p:sp>
        <p:nvSpPr>
          <p:cNvPr id="22" name="footer-rule">
            <a:extLst xmlns:a="http://schemas.openxmlformats.org/drawingml/2006/main">
              <a:ext uri="{FF2B5EF4-FFF2-40B4-BE49-F238E27FC236}">
                <a16:creationId xmlns:a16="http://schemas.microsoft.com/office/drawing/2014/main" id="{E37B886D-337B-4258-8380-5118438DBDDB}"/>
              </a:ext>
            </a:extLst>
          </p:cNvPr>
          <p:cNvSpPr>
            <a:spLocks xmlns:a="http://schemas.openxmlformats.org/drawingml/2006/main" noGrp="1"/>
          </p:cNvSpPr>
          <p:nvPr/>
        </p:nvSpPr>
        <p:spPr>
          <a:xfrm xmlns:a="http://schemas.openxmlformats.org/drawingml/2006/main">
            <a:off x="495300" y="6477000"/>
            <a:ext cx="11201400" cy="9525"/>
          </a:xfrm>
          <a:prstGeom xmlns:a="http://schemas.openxmlformats.org/drawingml/2006/main" prst="rect">
            <a:avLst/>
          </a:prstGeom>
          <a:solidFill xmlns:a="http://schemas.openxmlformats.org/drawingml/2006/main">
            <a:srgbClr val="3B4050"/>
          </a:solidFill>
          <a:ln xmlns:a="http://schemas.openxmlformats.org/drawingml/2006/main" w="0">
            <a:noFill/>
            <a:prstDash val="solid"/>
          </a:ln>
        </p:spPr>
      </p:sp>
      <p:sp>
        <p:nvSpPr>
          <p:cNvPr id="23" name="footer">
            <a:extLst xmlns:a="http://schemas.openxmlformats.org/drawingml/2006/main">
              <a:ext uri="{FF2B5EF4-FFF2-40B4-BE49-F238E27FC236}">
                <a16:creationId xmlns:a16="http://schemas.microsoft.com/office/drawing/2014/main" id="{3965CE6C-D501-4A26-A42A-381B25D901B7}"/>
              </a:ext>
            </a:extLst>
          </p:cNvPr>
          <p:cNvSpPr>
            <a:spLocks xmlns:a="http://schemas.openxmlformats.org/drawingml/2006/main" noGrp="1"/>
          </p:cNvSpPr>
          <p:nvPr/>
        </p:nvSpPr>
        <p:spPr>
          <a:xfrm xmlns:a="http://schemas.openxmlformats.org/drawingml/2006/main">
            <a:off x="495300" y="6572250"/>
            <a:ext cx="914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a:solidFill>
                  <a:srgbClr val="AEB4C4"/>
                </a:solidFill>
                <a:latin typeface="Helvetica Neue"/>
                <a:ea typeface="Helvetica Neue"/>
                <a:cs typeface="Helvetica Neue"/>
              </a:defRPr>
            </a:pPr>
            <a:r>
              <a:rPr sz="750">
                <a:solidFill>
                  <a:srgbClr val="AEB4C4"/>
                </a:solidFill>
                <a:latin typeface="Helvetica Neue"/>
                <a:ea typeface="Helvetica Neue"/>
                <a:cs typeface="Helvetica Neue"/>
              </a:rPr>
              <a:t>Nuvio TV • Samsung TV UI Description • submission draft</a:t>
            </a:r>
          </a:p>
        </p:txBody>
      </p:sp>
    </p:spTree>
    <p:extLst>
      <p:ext uri="{BB962C8B-B14F-4D97-AF65-F5344CB8AC3E}">
        <p14:creationId xmlns:p14="http://schemas.microsoft.com/office/powerpoint/2010/main" val="1366970227"/>
      </p:ext>
    </p:extLst>
  </p:cSld>
</p:sld>
</file>

<file path=ppt/slides/slide3.xml><?xml version="1.0" encoding="utf-8"?>
<p:sld xmlns:p="http://schemas.openxmlformats.org/presentationml/2006/main">
  <p:cSld>
    <p:bg>
      <p:bgPr>
        <a:solidFill xmlns:a="http://schemas.openxmlformats.org/drawingml/2006/main">
          <a:srgbClr val="101116"/>
        </a:solidFill>
      </p:bgPr>
    </p:bg>
    <p:spTree>
      <p:nvGrpSpPr>
        <p:cNvPr id="1" name=""/>
        <p:cNvGrpSpPr/>
        <p:nvPr/>
      </p:nvGrpSpPr>
      <p:grpSpPr>
        <a:xfrm xmlns:a="http://schemas.openxmlformats.org/drawingml/2006/main"/>
      </p:grpSpPr>
      <p:sp>
        <p:nvSpPr>
          <p:cNvPr id="17" name="eyebrow-3">
            <a:extLst xmlns:a="http://schemas.openxmlformats.org/drawingml/2006/main">
              <a:ext uri="{FF2B5EF4-FFF2-40B4-BE49-F238E27FC236}">
                <a16:creationId xmlns:a16="http://schemas.microsoft.com/office/drawing/2014/main" id="{4619617E-ECC7-4EDB-88DF-EF56765525C3}"/>
              </a:ext>
            </a:extLst>
          </p:cNvPr>
          <p:cNvSpPr>
            <a:spLocks xmlns:a="http://schemas.openxmlformats.org/drawingml/2006/main" noGrp="1"/>
          </p:cNvSpPr>
          <p:nvPr/>
        </p:nvSpPr>
        <p:spPr>
          <a:xfrm xmlns:a="http://schemas.openxmlformats.org/drawingml/2006/main">
            <a:off x="4953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40D4E8"/>
                </a:solidFill>
                <a:latin typeface="Helvetica Neue"/>
                <a:ea typeface="Helvetica Neue"/>
                <a:cs typeface="Helvetica Neue"/>
              </a:defRPr>
            </a:pPr>
            <a:r>
              <a:rPr sz="900" b="1">
                <a:solidFill>
                  <a:srgbClr val="40D4E8"/>
                </a:solidFill>
                <a:latin typeface="Helvetica Neue"/>
                <a:ea typeface="Helvetica Neue"/>
                <a:cs typeface="Helvetica Neue"/>
              </a:rPr>
              <a:t>UI FLOW</a:t>
            </a:r>
          </a:p>
        </p:txBody>
      </p:sp>
      <p:sp>
        <p:nvSpPr>
          <p:cNvPr id="2" name="title-3">
            <a:extLst xmlns:a="http://schemas.openxmlformats.org/drawingml/2006/main">
              <a:ext uri="{FF2B5EF4-FFF2-40B4-BE49-F238E27FC236}">
                <a16:creationId xmlns:a16="http://schemas.microsoft.com/office/drawing/2014/main" id="{E4EA1314-1076-4EBE-A0A4-A4ADD4147115}"/>
              </a:ext>
            </a:extLst>
          </p:cNvPr>
          <p:cNvSpPr>
            <a:spLocks xmlns:a="http://schemas.openxmlformats.org/drawingml/2006/main" noGrp="1"/>
          </p:cNvSpPr>
          <p:nvPr/>
        </p:nvSpPr>
        <p:spPr>
          <a:xfrm xmlns:a="http://schemas.openxmlformats.org/drawingml/2006/main">
            <a:off x="495300" y="685800"/>
            <a:ext cx="981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8FC"/>
                </a:solidFill>
                <a:latin typeface="Helvetica Neue"/>
                <a:ea typeface="Helvetica Neue"/>
                <a:cs typeface="Helvetica Neue"/>
              </a:defRPr>
            </a:pPr>
            <a:r>
              <a:rPr sz="2550" b="1">
                <a:solidFill>
                  <a:srgbClr val="F7F8FC"/>
                </a:solidFill>
                <a:latin typeface="Helvetica Neue"/>
                <a:ea typeface="Helvetica Neue"/>
                <a:cs typeface="Helvetica Neue"/>
              </a:rPr>
              <a:t>Home: discovery at TV distance</a:t>
            </a:r>
          </a:p>
        </p:txBody>
      </p:sp>
      <p:sp>
        <p:nvSpPr>
          <p:cNvPr id="3" name="page-3">
            <a:extLst xmlns:a="http://schemas.openxmlformats.org/drawingml/2006/main">
              <a:ext uri="{FF2B5EF4-FFF2-40B4-BE49-F238E27FC236}">
                <a16:creationId xmlns:a16="http://schemas.microsoft.com/office/drawing/2014/main" id="{F147FD58-CB84-4FB6-80C2-F3C33D0EA0D1}"/>
              </a:ext>
            </a:extLst>
          </p:cNvPr>
          <p:cNvSpPr>
            <a:spLocks xmlns:a="http://schemas.openxmlformats.org/drawingml/2006/main" noGrp="1"/>
          </p:cNvSpPr>
          <p:nvPr/>
        </p:nvSpPr>
        <p:spPr>
          <a:xfrm xmlns:a="http://schemas.openxmlformats.org/drawingml/2006/main">
            <a:off x="11239500" y="3619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AEB4C4"/>
                </a:solidFill>
                <a:latin typeface="Helvetica Neue"/>
                <a:ea typeface="Helvetica Neue"/>
                <a:cs typeface="Helvetica Neue"/>
              </a:defRPr>
            </a:pPr>
            <a:r>
              <a:rPr sz="1050" b="1">
                <a:solidFill>
                  <a:srgbClr val="AEB4C4"/>
                </a:solidFill>
                <a:latin typeface="Helvetica Neue"/>
                <a:ea typeface="Helvetica Neue"/>
                <a:cs typeface="Helvetica Neue"/>
              </a:rPr>
              <a:t>03</a:t>
            </a:r>
          </a:p>
        </p:txBody>
      </p:sp>
      <p:sp>
        <p:nvSpPr>
          <p:cNvPr id="4" name="home-image-frame">
            <a:extLst xmlns:a="http://schemas.openxmlformats.org/drawingml/2006/main">
              <a:ext uri="{FF2B5EF4-FFF2-40B4-BE49-F238E27FC236}">
                <a16:creationId xmlns:a16="http://schemas.microsoft.com/office/drawing/2014/main" id="{F1E6CC33-0DF2-4932-9930-EEC1D45F612D}"/>
              </a:ext>
            </a:extLst>
          </p:cNvPr>
          <p:cNvSpPr>
            <a:spLocks xmlns:a="http://schemas.openxmlformats.org/drawingml/2006/main" noGrp="1"/>
          </p:cNvSpPr>
          <p:nvPr/>
        </p:nvSpPr>
        <p:spPr>
          <a:xfrm xmlns:a="http://schemas.openxmlformats.org/drawingml/2006/main">
            <a:off x="495300" y="1638300"/>
            <a:ext cx="5886450" cy="3905250"/>
          </a:xfrm>
          <a:prstGeom xmlns:a="http://schemas.openxmlformats.org/drawingml/2006/main" prst="roundRect">
            <a:avLst>
              <a:gd name="adj" fmla="val 3415"/>
            </a:avLst>
          </a:prstGeom>
          <a:solidFill xmlns:a="http://schemas.openxmlformats.org/drawingml/2006/main">
            <a:srgbClr val="1A1C24"/>
          </a:solidFill>
          <a:ln xmlns:a="http://schemas.openxmlformats.org/drawingml/2006/main" w="9525">
            <a:solidFill>
              <a:srgbClr val="3B4050"/>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ae41a51027554130"/>
          <a:srcRect xmlns:a="http://schemas.openxmlformats.org/drawingml/2006/main" l="0" t="550" r="0" b="550"/>
          <a:stretch xmlns:a="http://schemas.openxmlformats.org/drawingml/2006/main">
            <a:fillRect l="0" t="0" r="0" b="0"/>
          </a:stretch>
        </p:blipFill>
        <p:spPr>
          <a:xfrm xmlns:a="http://schemas.openxmlformats.org/drawingml/2006/main">
            <a:off x="590550" y="1733550"/>
            <a:ext cx="5695950" cy="3200400"/>
          </a:xfrm>
          <a:prstGeom xmlns:a="http://schemas.openxmlformats.org/drawingml/2006/main" prst="roundRect">
            <a:avLst>
              <a:gd name="adj" fmla="val 2381"/>
            </a:avLst>
          </a:prstGeom>
        </p:spPr>
      </p:pic>
      <p:sp>
        <p:nvSpPr>
          <p:cNvPr id="6" name="home-caption">
            <a:extLst xmlns:a="http://schemas.openxmlformats.org/drawingml/2006/main">
              <a:ext uri="{FF2B5EF4-FFF2-40B4-BE49-F238E27FC236}">
                <a16:creationId xmlns:a16="http://schemas.microsoft.com/office/drawing/2014/main" id="{746404C7-ACA9-4986-AF04-56DF47A70648}"/>
              </a:ext>
            </a:extLst>
          </p:cNvPr>
          <p:cNvSpPr>
            <a:spLocks xmlns:a="http://schemas.openxmlformats.org/drawingml/2006/main" noGrp="1"/>
          </p:cNvSpPr>
          <p:nvPr/>
        </p:nvSpPr>
        <p:spPr>
          <a:xfrm xmlns:a="http://schemas.openxmlformats.org/drawingml/2006/main">
            <a:off x="590550" y="5105400"/>
            <a:ext cx="5695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a:solidFill>
                  <a:srgbClr val="AEB4C4"/>
                </a:solidFill>
                <a:latin typeface="Helvetica Neue"/>
                <a:ea typeface="Helvetica Neue"/>
                <a:cs typeface="Helvetica Neue"/>
              </a:defRPr>
            </a:pPr>
            <a:r>
              <a:rPr sz="900">
                <a:solidFill>
                  <a:srgbClr val="AEB4C4"/>
                </a:solidFill>
                <a:latin typeface="Helvetica Neue"/>
                <a:ea typeface="Helvetica Neue"/>
                <a:cs typeface="Helvetica Neue"/>
              </a:rPr>
              <a:t>Home screen captured from the local TV build</a:t>
            </a:r>
          </a:p>
        </p:txBody>
      </p:sp>
      <p:sp>
        <p:nvSpPr>
          <p:cNvPr id="7" name="label-194">
            <a:extLst xmlns:a="http://schemas.openxmlformats.org/drawingml/2006/main">
              <a:ext uri="{FF2B5EF4-FFF2-40B4-BE49-F238E27FC236}">
                <a16:creationId xmlns:a16="http://schemas.microsoft.com/office/drawing/2014/main" id="{F6E6C211-A22D-427F-B4E7-8AEB4F8180BC}"/>
              </a:ext>
            </a:extLst>
          </p:cNvPr>
          <p:cNvSpPr>
            <a:spLocks xmlns:a="http://schemas.openxmlformats.org/drawingml/2006/main" noGrp="1"/>
          </p:cNvSpPr>
          <p:nvPr/>
        </p:nvSpPr>
        <p:spPr>
          <a:xfrm xmlns:a="http://schemas.openxmlformats.org/drawingml/2006/main">
            <a:off x="6743700" y="18478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40D4E8"/>
                </a:solidFill>
                <a:latin typeface="Helvetica Neue"/>
                <a:ea typeface="Helvetica Neue"/>
                <a:cs typeface="Helvetica Neue"/>
              </a:defRPr>
            </a:pPr>
            <a:r>
              <a:rPr sz="975" b="1">
                <a:solidFill>
                  <a:srgbClr val="40D4E8"/>
                </a:solidFill>
                <a:latin typeface="Helvetica Neue"/>
                <a:ea typeface="Helvetica Neue"/>
                <a:cs typeface="Helvetica Neue"/>
              </a:rPr>
              <a:t>HERO AREA</a:t>
            </a:r>
          </a:p>
        </p:txBody>
      </p:sp>
      <p:sp>
        <p:nvSpPr>
          <p:cNvPr id="8" name="value-194">
            <a:extLst xmlns:a="http://schemas.openxmlformats.org/drawingml/2006/main">
              <a:ext uri="{FF2B5EF4-FFF2-40B4-BE49-F238E27FC236}">
                <a16:creationId xmlns:a16="http://schemas.microsoft.com/office/drawing/2014/main" id="{8BDB78BF-0F25-4518-A511-DE1F0D22C055}"/>
              </a:ext>
            </a:extLst>
          </p:cNvPr>
          <p:cNvSpPr>
            <a:spLocks xmlns:a="http://schemas.openxmlformats.org/drawingml/2006/main" noGrp="1"/>
          </p:cNvSpPr>
          <p:nvPr/>
        </p:nvSpPr>
        <p:spPr>
          <a:xfrm xmlns:a="http://schemas.openxmlformats.org/drawingml/2006/main">
            <a:off x="6743700" y="2076450"/>
            <a:ext cx="4857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F7F8FC"/>
                </a:solidFill>
                <a:latin typeface="Helvetica Neue"/>
                <a:ea typeface="Helvetica Neue"/>
                <a:cs typeface="Helvetica Neue"/>
              </a:defRPr>
            </a:pPr>
            <a:r>
              <a:rPr sz="1275">
                <a:solidFill>
                  <a:srgbClr val="F7F8FC"/>
                </a:solidFill>
                <a:latin typeface="Helvetica Neue"/>
                <a:ea typeface="Helvetica Neue"/>
                <a:cs typeface="Helvetica Neue"/>
              </a:rPr>
              <a:t>Highlights a focused title with metadata and a short synopsis.</a:t>
            </a:r>
          </a:p>
        </p:txBody>
      </p:sp>
      <p:sp>
        <p:nvSpPr>
          <p:cNvPr id="9" name="label-300">
            <a:extLst xmlns:a="http://schemas.openxmlformats.org/drawingml/2006/main">
              <a:ext uri="{FF2B5EF4-FFF2-40B4-BE49-F238E27FC236}">
                <a16:creationId xmlns:a16="http://schemas.microsoft.com/office/drawing/2014/main" id="{0F909BCB-7B32-4DAB-888F-CC0536A45FC1}"/>
              </a:ext>
            </a:extLst>
          </p:cNvPr>
          <p:cNvSpPr>
            <a:spLocks xmlns:a="http://schemas.openxmlformats.org/drawingml/2006/main" noGrp="1"/>
          </p:cNvSpPr>
          <p:nvPr/>
        </p:nvSpPr>
        <p:spPr>
          <a:xfrm xmlns:a="http://schemas.openxmlformats.org/drawingml/2006/main">
            <a:off x="6743700" y="28575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A64BEE"/>
                </a:solidFill>
                <a:latin typeface="Helvetica Neue"/>
                <a:ea typeface="Helvetica Neue"/>
                <a:cs typeface="Helvetica Neue"/>
              </a:defRPr>
            </a:pPr>
            <a:r>
              <a:rPr sz="975" b="1">
                <a:solidFill>
                  <a:srgbClr val="A64BEE"/>
                </a:solidFill>
                <a:latin typeface="Helvetica Neue"/>
                <a:ea typeface="Helvetica Neue"/>
                <a:cs typeface="Helvetica Neue"/>
              </a:rPr>
              <a:t>CONTENT ROWS</a:t>
            </a:r>
          </a:p>
        </p:txBody>
      </p:sp>
      <p:sp>
        <p:nvSpPr>
          <p:cNvPr id="10" name="value-300">
            <a:extLst xmlns:a="http://schemas.openxmlformats.org/drawingml/2006/main">
              <a:ext uri="{FF2B5EF4-FFF2-40B4-BE49-F238E27FC236}">
                <a16:creationId xmlns:a16="http://schemas.microsoft.com/office/drawing/2014/main" id="{A7B7E5B2-E59A-478D-898F-A82D6019201F}"/>
              </a:ext>
            </a:extLst>
          </p:cNvPr>
          <p:cNvSpPr>
            <a:spLocks xmlns:a="http://schemas.openxmlformats.org/drawingml/2006/main" noGrp="1"/>
          </p:cNvSpPr>
          <p:nvPr/>
        </p:nvSpPr>
        <p:spPr>
          <a:xfrm xmlns:a="http://schemas.openxmlformats.org/drawingml/2006/main">
            <a:off x="6743700" y="3086100"/>
            <a:ext cx="4857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F7F8FC"/>
                </a:solidFill>
                <a:latin typeface="Helvetica Neue"/>
                <a:ea typeface="Helvetica Neue"/>
                <a:cs typeface="Helvetica Neue"/>
              </a:defRPr>
            </a:pPr>
            <a:r>
              <a:rPr sz="1275">
                <a:solidFill>
                  <a:srgbClr val="F7F8FC"/>
                </a:solidFill>
                <a:latin typeface="Helvetica Neue"/>
                <a:ea typeface="Helvetica Neue"/>
                <a:cs typeface="Helvetica Neue"/>
              </a:rPr>
              <a:t>Horizontal rails keep browsing predictable with remote control navigation.</a:t>
            </a:r>
          </a:p>
        </p:txBody>
      </p:sp>
      <p:sp>
        <p:nvSpPr>
          <p:cNvPr id="11" name="label-406">
            <a:extLst xmlns:a="http://schemas.openxmlformats.org/drawingml/2006/main">
              <a:ext uri="{FF2B5EF4-FFF2-40B4-BE49-F238E27FC236}">
                <a16:creationId xmlns:a16="http://schemas.microsoft.com/office/drawing/2014/main" id="{5BA9CC95-4635-43DF-A3BE-22366FD52358}"/>
              </a:ext>
            </a:extLst>
          </p:cNvPr>
          <p:cNvSpPr>
            <a:spLocks xmlns:a="http://schemas.openxmlformats.org/drawingml/2006/main" noGrp="1"/>
          </p:cNvSpPr>
          <p:nvPr/>
        </p:nvSpPr>
        <p:spPr>
          <a:xfrm xmlns:a="http://schemas.openxmlformats.org/drawingml/2006/main">
            <a:off x="6743700" y="38671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4B83F"/>
                </a:solidFill>
                <a:latin typeface="Helvetica Neue"/>
                <a:ea typeface="Helvetica Neue"/>
                <a:cs typeface="Helvetica Neue"/>
              </a:defRPr>
            </a:pPr>
            <a:r>
              <a:rPr sz="975" b="1">
                <a:solidFill>
                  <a:srgbClr val="F4B83F"/>
                </a:solidFill>
                <a:latin typeface="Helvetica Neue"/>
                <a:ea typeface="Helvetica Neue"/>
                <a:cs typeface="Helvetica Neue"/>
              </a:rPr>
              <a:t>FOCUS</a:t>
            </a:r>
          </a:p>
        </p:txBody>
      </p:sp>
      <p:sp>
        <p:nvSpPr>
          <p:cNvPr id="12" name="value-406">
            <a:extLst xmlns:a="http://schemas.openxmlformats.org/drawingml/2006/main">
              <a:ext uri="{FF2B5EF4-FFF2-40B4-BE49-F238E27FC236}">
                <a16:creationId xmlns:a16="http://schemas.microsoft.com/office/drawing/2014/main" id="{B419F7C9-D0BF-47E2-9686-BB12B24F645F}"/>
              </a:ext>
            </a:extLst>
          </p:cNvPr>
          <p:cNvSpPr>
            <a:spLocks xmlns:a="http://schemas.openxmlformats.org/drawingml/2006/main" noGrp="1"/>
          </p:cNvSpPr>
          <p:nvPr/>
        </p:nvSpPr>
        <p:spPr>
          <a:xfrm xmlns:a="http://schemas.openxmlformats.org/drawingml/2006/main">
            <a:off x="6743700" y="4095750"/>
            <a:ext cx="4857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F7F8FC"/>
                </a:solidFill>
                <a:latin typeface="Helvetica Neue"/>
                <a:ea typeface="Helvetica Neue"/>
                <a:cs typeface="Helvetica Neue"/>
              </a:defRPr>
            </a:pPr>
            <a:r>
              <a:rPr sz="1275">
                <a:solidFill>
                  <a:srgbClr val="F7F8FC"/>
                </a:solidFill>
                <a:latin typeface="Helvetica Neue"/>
                <a:ea typeface="Helvetica Neue"/>
                <a:cs typeface="Helvetica Neue"/>
              </a:rPr>
              <a:t>The selected item is visually distinct and remains usable at 10-foot distance.</a:t>
            </a:r>
          </a:p>
        </p:txBody>
      </p:sp>
      <p:sp>
        <p:nvSpPr>
          <p:cNvPr id="13" name="label-512">
            <a:extLst xmlns:a="http://schemas.openxmlformats.org/drawingml/2006/main">
              <a:ext uri="{FF2B5EF4-FFF2-40B4-BE49-F238E27FC236}">
                <a16:creationId xmlns:a16="http://schemas.microsoft.com/office/drawing/2014/main" id="{C3437295-1A54-4E54-969C-B0BCB70D06AD}"/>
              </a:ext>
            </a:extLst>
          </p:cNvPr>
          <p:cNvSpPr>
            <a:spLocks xmlns:a="http://schemas.openxmlformats.org/drawingml/2006/main" noGrp="1"/>
          </p:cNvSpPr>
          <p:nvPr/>
        </p:nvSpPr>
        <p:spPr>
          <a:xfrm xmlns:a="http://schemas.openxmlformats.org/drawingml/2006/main">
            <a:off x="6743700" y="48768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40D4E8"/>
                </a:solidFill>
                <a:latin typeface="Helvetica Neue"/>
                <a:ea typeface="Helvetica Neue"/>
                <a:cs typeface="Helvetica Neue"/>
              </a:defRPr>
            </a:pPr>
            <a:r>
              <a:rPr sz="975" b="1">
                <a:solidFill>
                  <a:srgbClr val="40D4E8"/>
                </a:solidFill>
                <a:latin typeface="Helvetica Neue"/>
                <a:ea typeface="Helvetica Neue"/>
                <a:cs typeface="Helvetica Neue"/>
              </a:rPr>
              <a:t>DATA</a:t>
            </a:r>
          </a:p>
        </p:txBody>
      </p:sp>
      <p:sp>
        <p:nvSpPr>
          <p:cNvPr id="14" name="value-512">
            <a:extLst xmlns:a="http://schemas.openxmlformats.org/drawingml/2006/main">
              <a:ext uri="{FF2B5EF4-FFF2-40B4-BE49-F238E27FC236}">
                <a16:creationId xmlns:a16="http://schemas.microsoft.com/office/drawing/2014/main" id="{10AB8144-5F20-41E9-9410-DF951FE56F84}"/>
              </a:ext>
            </a:extLst>
          </p:cNvPr>
          <p:cNvSpPr>
            <a:spLocks xmlns:a="http://schemas.openxmlformats.org/drawingml/2006/main" noGrp="1"/>
          </p:cNvSpPr>
          <p:nvPr/>
        </p:nvSpPr>
        <p:spPr>
          <a:xfrm xmlns:a="http://schemas.openxmlformats.org/drawingml/2006/main">
            <a:off x="6743700" y="5105400"/>
            <a:ext cx="4857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F7F8FC"/>
                </a:solidFill>
                <a:latin typeface="Helvetica Neue"/>
                <a:ea typeface="Helvetica Neue"/>
                <a:cs typeface="Helvetica Neue"/>
              </a:defRPr>
            </a:pPr>
            <a:r>
              <a:rPr sz="1275">
                <a:solidFill>
                  <a:srgbClr val="F7F8FC"/>
                </a:solidFill>
                <a:latin typeface="Helvetica Neue"/>
                <a:ea typeface="Helvetica Neue"/>
                <a:cs typeface="Helvetica Neue"/>
              </a:rPr>
              <a:t>Artwork and metadata are loaded from configured catalog providers.</a:t>
            </a:r>
          </a:p>
        </p:txBody>
      </p:sp>
      <p:sp>
        <p:nvSpPr>
          <p:cNvPr id="15" name="footer-rule">
            <a:extLst xmlns:a="http://schemas.openxmlformats.org/drawingml/2006/main">
              <a:ext uri="{FF2B5EF4-FFF2-40B4-BE49-F238E27FC236}">
                <a16:creationId xmlns:a16="http://schemas.microsoft.com/office/drawing/2014/main" id="{11BA0BA6-8D95-4824-B410-947B797C04CC}"/>
              </a:ext>
            </a:extLst>
          </p:cNvPr>
          <p:cNvSpPr>
            <a:spLocks xmlns:a="http://schemas.openxmlformats.org/drawingml/2006/main" noGrp="1"/>
          </p:cNvSpPr>
          <p:nvPr/>
        </p:nvSpPr>
        <p:spPr>
          <a:xfrm xmlns:a="http://schemas.openxmlformats.org/drawingml/2006/main">
            <a:off x="495300" y="6477000"/>
            <a:ext cx="11201400" cy="9525"/>
          </a:xfrm>
          <a:prstGeom xmlns:a="http://schemas.openxmlformats.org/drawingml/2006/main" prst="rect">
            <a:avLst/>
          </a:prstGeom>
          <a:solidFill xmlns:a="http://schemas.openxmlformats.org/drawingml/2006/main">
            <a:srgbClr val="3B4050"/>
          </a:solidFill>
          <a:ln xmlns:a="http://schemas.openxmlformats.org/drawingml/2006/main" w="0">
            <a:noFill/>
            <a:prstDash val="solid"/>
          </a:ln>
        </p:spPr>
      </p:sp>
      <p:sp>
        <p:nvSpPr>
          <p:cNvPr id="16" name="footer">
            <a:extLst xmlns:a="http://schemas.openxmlformats.org/drawingml/2006/main">
              <a:ext uri="{FF2B5EF4-FFF2-40B4-BE49-F238E27FC236}">
                <a16:creationId xmlns:a16="http://schemas.microsoft.com/office/drawing/2014/main" id="{3A894BCD-1FDF-4215-945F-D1E5F29D2F90}"/>
              </a:ext>
            </a:extLst>
          </p:cNvPr>
          <p:cNvSpPr>
            <a:spLocks xmlns:a="http://schemas.openxmlformats.org/drawingml/2006/main" noGrp="1"/>
          </p:cNvSpPr>
          <p:nvPr/>
        </p:nvSpPr>
        <p:spPr>
          <a:xfrm xmlns:a="http://schemas.openxmlformats.org/drawingml/2006/main">
            <a:off x="495300" y="6572250"/>
            <a:ext cx="914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a:solidFill>
                  <a:srgbClr val="AEB4C4"/>
                </a:solidFill>
                <a:latin typeface="Helvetica Neue"/>
                <a:ea typeface="Helvetica Neue"/>
                <a:cs typeface="Helvetica Neue"/>
              </a:defRPr>
            </a:pPr>
            <a:r>
              <a:rPr sz="750">
                <a:solidFill>
                  <a:srgbClr val="AEB4C4"/>
                </a:solidFill>
                <a:latin typeface="Helvetica Neue"/>
                <a:ea typeface="Helvetica Neue"/>
                <a:cs typeface="Helvetica Neue"/>
              </a:rPr>
              <a:t>Nuvio TV • Samsung TV UI Description • submission draft</a:t>
            </a:r>
          </a:p>
        </p:txBody>
      </p:sp>
    </p:spTree>
    <p:extLst>
      <p:ext uri="{BB962C8B-B14F-4D97-AF65-F5344CB8AC3E}">
        <p14:creationId xmlns:p14="http://schemas.microsoft.com/office/powerpoint/2010/main" val="1221046404"/>
      </p:ext>
    </p:extLst>
  </p:cSld>
</p:sld>
</file>

<file path=ppt/slides/slide4.xml><?xml version="1.0" encoding="utf-8"?>
<p:sld xmlns:p="http://schemas.openxmlformats.org/presentationml/2006/main">
  <p:cSld>
    <p:bg>
      <p:bgPr>
        <a:solidFill xmlns:a="http://schemas.openxmlformats.org/drawingml/2006/main">
          <a:srgbClr val="101116"/>
        </a:solidFill>
      </p:bgPr>
    </p:bg>
    <p:spTree>
      <p:nvGrpSpPr>
        <p:cNvPr id="1" name=""/>
        <p:cNvGrpSpPr/>
        <p:nvPr/>
      </p:nvGrpSpPr>
      <p:grpSpPr>
        <a:xfrm xmlns:a="http://schemas.openxmlformats.org/drawingml/2006/main"/>
      </p:grpSpPr>
      <p:sp>
        <p:nvSpPr>
          <p:cNvPr id="17" name="eyebrow-4">
            <a:extLst xmlns:a="http://schemas.openxmlformats.org/drawingml/2006/main">
              <a:ext uri="{FF2B5EF4-FFF2-40B4-BE49-F238E27FC236}">
                <a16:creationId xmlns:a16="http://schemas.microsoft.com/office/drawing/2014/main" id="{E5B2ED59-2440-4254-81D5-0268F9000EBC}"/>
              </a:ext>
            </a:extLst>
          </p:cNvPr>
          <p:cNvSpPr>
            <a:spLocks xmlns:a="http://schemas.openxmlformats.org/drawingml/2006/main" noGrp="1"/>
          </p:cNvSpPr>
          <p:nvPr/>
        </p:nvSpPr>
        <p:spPr>
          <a:xfrm xmlns:a="http://schemas.openxmlformats.org/drawingml/2006/main">
            <a:off x="4953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40D4E8"/>
                </a:solidFill>
                <a:latin typeface="Helvetica Neue"/>
                <a:ea typeface="Helvetica Neue"/>
                <a:cs typeface="Helvetica Neue"/>
              </a:defRPr>
            </a:pPr>
            <a:r>
              <a:rPr sz="900" b="1">
                <a:solidFill>
                  <a:srgbClr val="40D4E8"/>
                </a:solidFill>
                <a:latin typeface="Helvetica Neue"/>
                <a:ea typeface="Helvetica Neue"/>
                <a:cs typeface="Helvetica Neue"/>
              </a:rPr>
              <a:t>UI FLOW</a:t>
            </a:r>
          </a:p>
        </p:txBody>
      </p:sp>
      <p:sp>
        <p:nvSpPr>
          <p:cNvPr id="2" name="title-4">
            <a:extLst xmlns:a="http://schemas.openxmlformats.org/drawingml/2006/main">
              <a:ext uri="{FF2B5EF4-FFF2-40B4-BE49-F238E27FC236}">
                <a16:creationId xmlns:a16="http://schemas.microsoft.com/office/drawing/2014/main" id="{00D476B9-E51E-478A-9986-5F9B0EF108C0}"/>
              </a:ext>
            </a:extLst>
          </p:cNvPr>
          <p:cNvSpPr>
            <a:spLocks xmlns:a="http://schemas.openxmlformats.org/drawingml/2006/main" noGrp="1"/>
          </p:cNvSpPr>
          <p:nvPr/>
        </p:nvSpPr>
        <p:spPr>
          <a:xfrm xmlns:a="http://schemas.openxmlformats.org/drawingml/2006/main">
            <a:off x="495300" y="685800"/>
            <a:ext cx="981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8FC"/>
                </a:solidFill>
                <a:latin typeface="Helvetica Neue"/>
                <a:ea typeface="Helvetica Neue"/>
                <a:cs typeface="Helvetica Neue"/>
              </a:defRPr>
            </a:pPr>
            <a:r>
              <a:rPr sz="2550" b="1">
                <a:solidFill>
                  <a:srgbClr val="F7F8FC"/>
                </a:solidFill>
                <a:latin typeface="Helvetica Neue"/>
                <a:ea typeface="Helvetica Neue"/>
                <a:cs typeface="Helvetica Neue"/>
              </a:rPr>
              <a:t>Search and library</a:t>
            </a:r>
          </a:p>
        </p:txBody>
      </p:sp>
      <p:sp>
        <p:nvSpPr>
          <p:cNvPr id="3" name="page-4">
            <a:extLst xmlns:a="http://schemas.openxmlformats.org/drawingml/2006/main">
              <a:ext uri="{FF2B5EF4-FFF2-40B4-BE49-F238E27FC236}">
                <a16:creationId xmlns:a16="http://schemas.microsoft.com/office/drawing/2014/main" id="{917AFD6C-E959-4AB4-BEA9-CB4059B75810}"/>
              </a:ext>
            </a:extLst>
          </p:cNvPr>
          <p:cNvSpPr>
            <a:spLocks xmlns:a="http://schemas.openxmlformats.org/drawingml/2006/main" noGrp="1"/>
          </p:cNvSpPr>
          <p:nvPr/>
        </p:nvSpPr>
        <p:spPr>
          <a:xfrm xmlns:a="http://schemas.openxmlformats.org/drawingml/2006/main">
            <a:off x="11239500" y="3619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AEB4C4"/>
                </a:solidFill>
                <a:latin typeface="Helvetica Neue"/>
                <a:ea typeface="Helvetica Neue"/>
                <a:cs typeface="Helvetica Neue"/>
              </a:defRPr>
            </a:pPr>
            <a:r>
              <a:rPr sz="1050" b="1">
                <a:solidFill>
                  <a:srgbClr val="AEB4C4"/>
                </a:solidFill>
                <a:latin typeface="Helvetica Neue"/>
                <a:ea typeface="Helvetica Neue"/>
                <a:cs typeface="Helvetica Neue"/>
              </a:rPr>
              <a:t>04</a:t>
            </a:r>
          </a:p>
        </p:txBody>
      </p:sp>
      <p:sp>
        <p:nvSpPr>
          <p:cNvPr id="4" name="search-image-frame">
            <a:extLst xmlns:a="http://schemas.openxmlformats.org/drawingml/2006/main">
              <a:ext uri="{FF2B5EF4-FFF2-40B4-BE49-F238E27FC236}">
                <a16:creationId xmlns:a16="http://schemas.microsoft.com/office/drawing/2014/main" id="{42AAEE81-9784-4388-88F1-01AF37201E25}"/>
              </a:ext>
            </a:extLst>
          </p:cNvPr>
          <p:cNvSpPr>
            <a:spLocks xmlns:a="http://schemas.openxmlformats.org/drawingml/2006/main" noGrp="1"/>
          </p:cNvSpPr>
          <p:nvPr/>
        </p:nvSpPr>
        <p:spPr>
          <a:xfrm xmlns:a="http://schemas.openxmlformats.org/drawingml/2006/main">
            <a:off x="495300" y="1638300"/>
            <a:ext cx="5429250" cy="3143250"/>
          </a:xfrm>
          <a:prstGeom xmlns:a="http://schemas.openxmlformats.org/drawingml/2006/main" prst="roundRect">
            <a:avLst>
              <a:gd name="adj" fmla="val 4242"/>
            </a:avLst>
          </a:prstGeom>
          <a:solidFill xmlns:a="http://schemas.openxmlformats.org/drawingml/2006/main">
            <a:srgbClr val="1A1C24"/>
          </a:solidFill>
          <a:ln xmlns:a="http://schemas.openxmlformats.org/drawingml/2006/main" w="9525">
            <a:solidFill>
              <a:srgbClr val="3B4050"/>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7b696e1ed46d4869"/>
          <a:srcRect xmlns:a="http://schemas.openxmlformats.org/drawingml/2006/main" l="0" t="555" r="0" b="555"/>
          <a:stretch xmlns:a="http://schemas.openxmlformats.org/drawingml/2006/main">
            <a:fillRect l="0" t="0" r="0" b="0"/>
          </a:stretch>
        </p:blipFill>
        <p:spPr>
          <a:xfrm xmlns:a="http://schemas.openxmlformats.org/drawingml/2006/main">
            <a:off x="590550" y="1733550"/>
            <a:ext cx="5238750" cy="2943225"/>
          </a:xfrm>
          <a:prstGeom xmlns:a="http://schemas.openxmlformats.org/drawingml/2006/main" prst="roundRect">
            <a:avLst>
              <a:gd name="adj" fmla="val 2589"/>
            </a:avLst>
          </a:prstGeom>
        </p:spPr>
      </p:pic>
      <p:sp>
        <p:nvSpPr>
          <p:cNvPr id="6" name="search-caption">
            <a:extLst xmlns:a="http://schemas.openxmlformats.org/drawingml/2006/main">
              <a:ext uri="{FF2B5EF4-FFF2-40B4-BE49-F238E27FC236}">
                <a16:creationId xmlns:a16="http://schemas.microsoft.com/office/drawing/2014/main" id="{24EB4A5E-153F-4AA1-A580-E621C5929629}"/>
              </a:ext>
            </a:extLst>
          </p:cNvPr>
          <p:cNvSpPr>
            <a:spLocks xmlns:a="http://schemas.openxmlformats.org/drawingml/2006/main" noGrp="1"/>
          </p:cNvSpPr>
          <p:nvPr/>
        </p:nvSpPr>
        <p:spPr>
          <a:xfrm xmlns:a="http://schemas.openxmlformats.org/drawingml/2006/main">
            <a:off x="590550" y="489585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7F8FC"/>
                </a:solidFill>
                <a:latin typeface="Helvetica Neue"/>
                <a:ea typeface="Helvetica Neue"/>
                <a:cs typeface="Helvetica Neue"/>
              </a:defRPr>
            </a:pPr>
            <a:r>
              <a:rPr sz="1500" b="1">
                <a:solidFill>
                  <a:srgbClr val="F7F8FC"/>
                </a:solidFill>
                <a:latin typeface="Helvetica Neue"/>
                <a:ea typeface="Helvetica Neue"/>
                <a:cs typeface="Helvetica Neue"/>
              </a:rPr>
              <a:t>Search results</a:t>
            </a:r>
          </a:p>
        </p:txBody>
      </p:sp>
      <p:sp>
        <p:nvSpPr>
          <p:cNvPr id="7" name="library-image-frame">
            <a:extLst xmlns:a="http://schemas.openxmlformats.org/drawingml/2006/main">
              <a:ext uri="{FF2B5EF4-FFF2-40B4-BE49-F238E27FC236}">
                <a16:creationId xmlns:a16="http://schemas.microsoft.com/office/drawing/2014/main" id="{75E505FA-124A-4515-9B12-7D51AD62C965}"/>
              </a:ext>
            </a:extLst>
          </p:cNvPr>
          <p:cNvSpPr>
            <a:spLocks xmlns:a="http://schemas.openxmlformats.org/drawingml/2006/main" noGrp="1"/>
          </p:cNvSpPr>
          <p:nvPr/>
        </p:nvSpPr>
        <p:spPr>
          <a:xfrm xmlns:a="http://schemas.openxmlformats.org/drawingml/2006/main">
            <a:off x="6267450" y="1638300"/>
            <a:ext cx="5429250" cy="3143250"/>
          </a:xfrm>
          <a:prstGeom xmlns:a="http://schemas.openxmlformats.org/drawingml/2006/main" prst="roundRect">
            <a:avLst>
              <a:gd name="adj" fmla="val 4242"/>
            </a:avLst>
          </a:prstGeom>
          <a:solidFill xmlns:a="http://schemas.openxmlformats.org/drawingml/2006/main">
            <a:srgbClr val="1A1C24"/>
          </a:solidFill>
          <a:ln xmlns:a="http://schemas.openxmlformats.org/drawingml/2006/main" w="9525">
            <a:solidFill>
              <a:srgbClr val="3B4050"/>
            </a:solidFill>
            <a:prstDash val="solid"/>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498ca22d22e46e0"/>
          <a:srcRect xmlns:a="http://schemas.openxmlformats.org/drawingml/2006/main" l="0" t="555" r="0" b="555"/>
          <a:stretch xmlns:a="http://schemas.openxmlformats.org/drawingml/2006/main">
            <a:fillRect l="0" t="0" r="0" b="0"/>
          </a:stretch>
        </p:blipFill>
        <p:spPr>
          <a:xfrm xmlns:a="http://schemas.openxmlformats.org/drawingml/2006/main">
            <a:off x="6362700" y="1733550"/>
            <a:ext cx="5238750" cy="2943225"/>
          </a:xfrm>
          <a:prstGeom xmlns:a="http://schemas.openxmlformats.org/drawingml/2006/main" prst="roundRect">
            <a:avLst>
              <a:gd name="adj" fmla="val 2589"/>
            </a:avLst>
          </a:prstGeom>
        </p:spPr>
      </p:pic>
      <p:sp>
        <p:nvSpPr>
          <p:cNvPr id="9" name="library-caption">
            <a:extLst xmlns:a="http://schemas.openxmlformats.org/drawingml/2006/main">
              <a:ext uri="{FF2B5EF4-FFF2-40B4-BE49-F238E27FC236}">
                <a16:creationId xmlns:a16="http://schemas.microsoft.com/office/drawing/2014/main" id="{E066F779-8044-4FA5-A518-924B51F7657C}"/>
              </a:ext>
            </a:extLst>
          </p:cNvPr>
          <p:cNvSpPr>
            <a:spLocks xmlns:a="http://schemas.openxmlformats.org/drawingml/2006/main" noGrp="1"/>
          </p:cNvSpPr>
          <p:nvPr/>
        </p:nvSpPr>
        <p:spPr>
          <a:xfrm xmlns:a="http://schemas.openxmlformats.org/drawingml/2006/main">
            <a:off x="6362700" y="4895850"/>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7F8FC"/>
                </a:solidFill>
                <a:latin typeface="Helvetica Neue"/>
                <a:ea typeface="Helvetica Neue"/>
                <a:cs typeface="Helvetica Neue"/>
              </a:defRPr>
            </a:pPr>
            <a:r>
              <a:rPr sz="1500" b="1">
                <a:solidFill>
                  <a:srgbClr val="F7F8FC"/>
                </a:solidFill>
                <a:latin typeface="Helvetica Neue"/>
                <a:ea typeface="Helvetica Neue"/>
                <a:cs typeface="Helvetica Neue"/>
              </a:rPr>
              <a:t>Library and saved titles</a:t>
            </a:r>
          </a:p>
        </p:txBody>
      </p:sp>
      <p:sp>
        <p:nvSpPr>
          <p:cNvPr id="10" name="flow-strip">
            <a:extLst xmlns:a="http://schemas.openxmlformats.org/drawingml/2006/main">
              <a:ext uri="{FF2B5EF4-FFF2-40B4-BE49-F238E27FC236}">
                <a16:creationId xmlns:a16="http://schemas.microsoft.com/office/drawing/2014/main" id="{2ED216F0-91AB-4059-9A87-461F9D1A1567}"/>
              </a:ext>
            </a:extLst>
          </p:cNvPr>
          <p:cNvSpPr>
            <a:spLocks xmlns:a="http://schemas.openxmlformats.org/drawingml/2006/main" noGrp="1"/>
          </p:cNvSpPr>
          <p:nvPr/>
        </p:nvSpPr>
        <p:spPr>
          <a:xfrm xmlns:a="http://schemas.openxmlformats.org/drawingml/2006/main">
            <a:off x="495300" y="5410200"/>
            <a:ext cx="11201400" cy="666750"/>
          </a:xfrm>
          <a:prstGeom xmlns:a="http://schemas.openxmlformats.org/drawingml/2006/main" prst="roundRect">
            <a:avLst>
              <a:gd name="adj" fmla="val 14286"/>
            </a:avLst>
          </a:prstGeom>
          <a:solidFill xmlns:a="http://schemas.openxmlformats.org/drawingml/2006/main">
            <a:srgbClr val="232631"/>
          </a:solidFill>
          <a:ln xmlns:a="http://schemas.openxmlformats.org/drawingml/2006/main" w="0">
            <a:noFill/>
            <a:prstDash val="solid"/>
          </a:ln>
        </p:spPr>
      </p:sp>
      <p:sp>
        <p:nvSpPr>
          <p:cNvPr id="11" name="flow-search-label">
            <a:extLst xmlns:a="http://schemas.openxmlformats.org/drawingml/2006/main">
              <a:ext uri="{FF2B5EF4-FFF2-40B4-BE49-F238E27FC236}">
                <a16:creationId xmlns:a16="http://schemas.microsoft.com/office/drawing/2014/main" id="{5093BFBC-55CC-490C-B750-A5CDC26F21D8}"/>
              </a:ext>
            </a:extLst>
          </p:cNvPr>
          <p:cNvSpPr>
            <a:spLocks xmlns:a="http://schemas.openxmlformats.org/drawingml/2006/main" noGrp="1"/>
          </p:cNvSpPr>
          <p:nvPr/>
        </p:nvSpPr>
        <p:spPr>
          <a:xfrm xmlns:a="http://schemas.openxmlformats.org/drawingml/2006/main">
            <a:off x="742950" y="56197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40D4E8"/>
                </a:solidFill>
                <a:latin typeface="Helvetica Neue"/>
                <a:ea typeface="Helvetica Neue"/>
                <a:cs typeface="Helvetica Neue"/>
              </a:defRPr>
            </a:pPr>
            <a:r>
              <a:rPr sz="900" b="1">
                <a:solidFill>
                  <a:srgbClr val="40D4E8"/>
                </a:solidFill>
                <a:latin typeface="Helvetica Neue"/>
                <a:ea typeface="Helvetica Neue"/>
                <a:cs typeface="Helvetica Neue"/>
              </a:rPr>
              <a:t>SEARCH</a:t>
            </a:r>
          </a:p>
        </p:txBody>
      </p:sp>
      <p:sp>
        <p:nvSpPr>
          <p:cNvPr id="12" name="flow-search-value">
            <a:extLst xmlns:a="http://schemas.openxmlformats.org/drawingml/2006/main">
              <a:ext uri="{FF2B5EF4-FFF2-40B4-BE49-F238E27FC236}">
                <a16:creationId xmlns:a16="http://schemas.microsoft.com/office/drawing/2014/main" id="{F3284D22-F0BF-4291-A47F-7FE7B114D209}"/>
              </a:ext>
            </a:extLst>
          </p:cNvPr>
          <p:cNvSpPr>
            <a:spLocks xmlns:a="http://schemas.openxmlformats.org/drawingml/2006/main" noGrp="1"/>
          </p:cNvSpPr>
          <p:nvPr/>
        </p:nvSpPr>
        <p:spPr>
          <a:xfrm xmlns:a="http://schemas.openxmlformats.org/drawingml/2006/main">
            <a:off x="742950" y="582930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a:solidFill>
                  <a:srgbClr val="F7F8FC"/>
                </a:solidFill>
                <a:latin typeface="Helvetica Neue"/>
                <a:ea typeface="Helvetica Neue"/>
                <a:cs typeface="Helvetica Neue"/>
              </a:defRPr>
            </a:pPr>
            <a:r>
              <a:rPr sz="1125">
                <a:solidFill>
                  <a:srgbClr val="F7F8FC"/>
                </a:solidFill>
                <a:latin typeface="Helvetica Neue"/>
                <a:ea typeface="Helvetica Neue"/>
                <a:cs typeface="Helvetica Neue"/>
              </a:rPr>
              <a:t>Enter a title with the TV keyboard or voice search.</a:t>
            </a:r>
          </a:p>
        </p:txBody>
      </p:sp>
      <p:sp>
        <p:nvSpPr>
          <p:cNvPr id="13" name="flow-library-label">
            <a:extLst xmlns:a="http://schemas.openxmlformats.org/drawingml/2006/main">
              <a:ext uri="{FF2B5EF4-FFF2-40B4-BE49-F238E27FC236}">
                <a16:creationId xmlns:a16="http://schemas.microsoft.com/office/drawing/2014/main" id="{004C69C1-05F1-4723-8951-FB55E6F42582}"/>
              </a:ext>
            </a:extLst>
          </p:cNvPr>
          <p:cNvSpPr>
            <a:spLocks xmlns:a="http://schemas.openxmlformats.org/drawingml/2006/main" noGrp="1"/>
          </p:cNvSpPr>
          <p:nvPr/>
        </p:nvSpPr>
        <p:spPr>
          <a:xfrm xmlns:a="http://schemas.openxmlformats.org/drawingml/2006/main">
            <a:off x="6191250" y="56197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A64BEE"/>
                </a:solidFill>
                <a:latin typeface="Helvetica Neue"/>
                <a:ea typeface="Helvetica Neue"/>
                <a:cs typeface="Helvetica Neue"/>
              </a:defRPr>
            </a:pPr>
            <a:r>
              <a:rPr sz="900" b="1">
                <a:solidFill>
                  <a:srgbClr val="A64BEE"/>
                </a:solidFill>
                <a:latin typeface="Helvetica Neue"/>
                <a:ea typeface="Helvetica Neue"/>
                <a:cs typeface="Helvetica Neue"/>
              </a:rPr>
              <a:t>LIBRARY</a:t>
            </a:r>
          </a:p>
        </p:txBody>
      </p:sp>
      <p:sp>
        <p:nvSpPr>
          <p:cNvPr id="14" name="flow-library-value">
            <a:extLst xmlns:a="http://schemas.openxmlformats.org/drawingml/2006/main">
              <a:ext uri="{FF2B5EF4-FFF2-40B4-BE49-F238E27FC236}">
                <a16:creationId xmlns:a16="http://schemas.microsoft.com/office/drawing/2014/main" id="{E3E8D64A-4B05-464E-B619-81787A57EC0F}"/>
              </a:ext>
            </a:extLst>
          </p:cNvPr>
          <p:cNvSpPr>
            <a:spLocks xmlns:a="http://schemas.openxmlformats.org/drawingml/2006/main" noGrp="1"/>
          </p:cNvSpPr>
          <p:nvPr/>
        </p:nvSpPr>
        <p:spPr>
          <a:xfrm xmlns:a="http://schemas.openxmlformats.org/drawingml/2006/main">
            <a:off x="6191250" y="5829300"/>
            <a:ext cx="485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a:solidFill>
                  <a:srgbClr val="F7F8FC"/>
                </a:solidFill>
                <a:latin typeface="Helvetica Neue"/>
                <a:ea typeface="Helvetica Neue"/>
                <a:cs typeface="Helvetica Neue"/>
              </a:defRPr>
            </a:pPr>
            <a:r>
              <a:rPr sz="1125">
                <a:solidFill>
                  <a:srgbClr val="F7F8FC"/>
                </a:solidFill>
                <a:latin typeface="Helvetica Neue"/>
                <a:ea typeface="Helvetica Neue"/>
                <a:cs typeface="Helvetica Neue"/>
              </a:rPr>
              <a:t>Switch between saved and cloud-backed views when configured.</a:t>
            </a:r>
          </a:p>
        </p:txBody>
      </p:sp>
      <p:sp>
        <p:nvSpPr>
          <p:cNvPr id="15" name="footer-rule">
            <a:extLst xmlns:a="http://schemas.openxmlformats.org/drawingml/2006/main">
              <a:ext uri="{FF2B5EF4-FFF2-40B4-BE49-F238E27FC236}">
                <a16:creationId xmlns:a16="http://schemas.microsoft.com/office/drawing/2014/main" id="{9A81DCC9-DD42-4C53-9772-496FC3DF105B}"/>
              </a:ext>
            </a:extLst>
          </p:cNvPr>
          <p:cNvSpPr>
            <a:spLocks xmlns:a="http://schemas.openxmlformats.org/drawingml/2006/main" noGrp="1"/>
          </p:cNvSpPr>
          <p:nvPr/>
        </p:nvSpPr>
        <p:spPr>
          <a:xfrm xmlns:a="http://schemas.openxmlformats.org/drawingml/2006/main">
            <a:off x="495300" y="6477000"/>
            <a:ext cx="11201400" cy="9525"/>
          </a:xfrm>
          <a:prstGeom xmlns:a="http://schemas.openxmlformats.org/drawingml/2006/main" prst="rect">
            <a:avLst/>
          </a:prstGeom>
          <a:solidFill xmlns:a="http://schemas.openxmlformats.org/drawingml/2006/main">
            <a:srgbClr val="3B4050"/>
          </a:solidFill>
          <a:ln xmlns:a="http://schemas.openxmlformats.org/drawingml/2006/main" w="0">
            <a:noFill/>
            <a:prstDash val="solid"/>
          </a:ln>
        </p:spPr>
      </p:sp>
      <p:sp>
        <p:nvSpPr>
          <p:cNvPr id="16" name="footer">
            <a:extLst xmlns:a="http://schemas.openxmlformats.org/drawingml/2006/main">
              <a:ext uri="{FF2B5EF4-FFF2-40B4-BE49-F238E27FC236}">
                <a16:creationId xmlns:a16="http://schemas.microsoft.com/office/drawing/2014/main" id="{046267E1-84F6-43FF-BC94-752F7FB5C2D9}"/>
              </a:ext>
            </a:extLst>
          </p:cNvPr>
          <p:cNvSpPr>
            <a:spLocks xmlns:a="http://schemas.openxmlformats.org/drawingml/2006/main" noGrp="1"/>
          </p:cNvSpPr>
          <p:nvPr/>
        </p:nvSpPr>
        <p:spPr>
          <a:xfrm xmlns:a="http://schemas.openxmlformats.org/drawingml/2006/main">
            <a:off x="495300" y="6572250"/>
            <a:ext cx="914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a:solidFill>
                  <a:srgbClr val="AEB4C4"/>
                </a:solidFill>
                <a:latin typeface="Helvetica Neue"/>
                <a:ea typeface="Helvetica Neue"/>
                <a:cs typeface="Helvetica Neue"/>
              </a:defRPr>
            </a:pPr>
            <a:r>
              <a:rPr sz="750">
                <a:solidFill>
                  <a:srgbClr val="AEB4C4"/>
                </a:solidFill>
                <a:latin typeface="Helvetica Neue"/>
                <a:ea typeface="Helvetica Neue"/>
                <a:cs typeface="Helvetica Neue"/>
              </a:rPr>
              <a:t>Nuvio TV • Samsung TV UI Description • submission draft</a:t>
            </a:r>
          </a:p>
        </p:txBody>
      </p:sp>
    </p:spTree>
    <p:extLst>
      <p:ext uri="{BB962C8B-B14F-4D97-AF65-F5344CB8AC3E}">
        <p14:creationId xmlns:p14="http://schemas.microsoft.com/office/powerpoint/2010/main" val="46696758"/>
      </p:ext>
    </p:extLst>
  </p:cSld>
</p:sld>
</file>

<file path=ppt/slides/slide5.xml><?xml version="1.0" encoding="utf-8"?>
<p:sld xmlns:p="http://schemas.openxmlformats.org/presentationml/2006/main">
  <p:cSld>
    <p:bg>
      <p:bgPr>
        <a:solidFill xmlns:a="http://schemas.openxmlformats.org/drawingml/2006/main">
          <a:srgbClr val="101116"/>
        </a:solidFill>
      </p:bgPr>
    </p:bg>
    <p:spTree>
      <p:nvGrpSpPr>
        <p:cNvPr id="1" name=""/>
        <p:cNvGrpSpPr/>
        <p:nvPr/>
      </p:nvGrpSpPr>
      <p:grpSpPr>
        <a:xfrm xmlns:a="http://schemas.openxmlformats.org/drawingml/2006/main"/>
      </p:grpSpPr>
      <p:sp>
        <p:nvSpPr>
          <p:cNvPr id="17" name="eyebrow-5">
            <a:extLst xmlns:a="http://schemas.openxmlformats.org/drawingml/2006/main">
              <a:ext uri="{FF2B5EF4-FFF2-40B4-BE49-F238E27FC236}">
                <a16:creationId xmlns:a16="http://schemas.microsoft.com/office/drawing/2014/main" id="{3241C458-5337-4571-816B-363B02CC703F}"/>
              </a:ext>
            </a:extLst>
          </p:cNvPr>
          <p:cNvSpPr>
            <a:spLocks xmlns:a="http://schemas.openxmlformats.org/drawingml/2006/main" noGrp="1"/>
          </p:cNvSpPr>
          <p:nvPr/>
        </p:nvSpPr>
        <p:spPr>
          <a:xfrm xmlns:a="http://schemas.openxmlformats.org/drawingml/2006/main">
            <a:off x="4953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40D4E8"/>
                </a:solidFill>
                <a:latin typeface="Helvetica Neue"/>
                <a:ea typeface="Helvetica Neue"/>
                <a:cs typeface="Helvetica Neue"/>
              </a:defRPr>
            </a:pPr>
            <a:r>
              <a:rPr sz="900" b="1">
                <a:solidFill>
                  <a:srgbClr val="40D4E8"/>
                </a:solidFill>
                <a:latin typeface="Helvetica Neue"/>
                <a:ea typeface="Helvetica Neue"/>
                <a:cs typeface="Helvetica Neue"/>
              </a:rPr>
              <a:t>UI FLOW</a:t>
            </a:r>
          </a:p>
        </p:txBody>
      </p:sp>
      <p:sp>
        <p:nvSpPr>
          <p:cNvPr id="2" name="title-5">
            <a:extLst xmlns:a="http://schemas.openxmlformats.org/drawingml/2006/main">
              <a:ext uri="{FF2B5EF4-FFF2-40B4-BE49-F238E27FC236}">
                <a16:creationId xmlns:a16="http://schemas.microsoft.com/office/drawing/2014/main" id="{E61E9532-68A9-4033-911F-8795A4C78F14}"/>
              </a:ext>
            </a:extLst>
          </p:cNvPr>
          <p:cNvSpPr>
            <a:spLocks xmlns:a="http://schemas.openxmlformats.org/drawingml/2006/main" noGrp="1"/>
          </p:cNvSpPr>
          <p:nvPr/>
        </p:nvSpPr>
        <p:spPr>
          <a:xfrm xmlns:a="http://schemas.openxmlformats.org/drawingml/2006/main">
            <a:off x="495300" y="685800"/>
            <a:ext cx="981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8FC"/>
                </a:solidFill>
                <a:latin typeface="Helvetica Neue"/>
                <a:ea typeface="Helvetica Neue"/>
                <a:cs typeface="Helvetica Neue"/>
              </a:defRPr>
            </a:pPr>
            <a:r>
              <a:rPr sz="2550" b="1">
                <a:solidFill>
                  <a:srgbClr val="F7F8FC"/>
                </a:solidFill>
                <a:latin typeface="Helvetica Neue"/>
                <a:ea typeface="Helvetica Neue"/>
                <a:cs typeface="Helvetica Neue"/>
              </a:rPr>
              <a:t>Settings and connected services</a:t>
            </a:r>
          </a:p>
        </p:txBody>
      </p:sp>
      <p:sp>
        <p:nvSpPr>
          <p:cNvPr id="3" name="page-5">
            <a:extLst xmlns:a="http://schemas.openxmlformats.org/drawingml/2006/main">
              <a:ext uri="{FF2B5EF4-FFF2-40B4-BE49-F238E27FC236}">
                <a16:creationId xmlns:a16="http://schemas.microsoft.com/office/drawing/2014/main" id="{ED08DA10-1C37-42CE-BA67-B299BB6C5CA1}"/>
              </a:ext>
            </a:extLst>
          </p:cNvPr>
          <p:cNvSpPr>
            <a:spLocks xmlns:a="http://schemas.openxmlformats.org/drawingml/2006/main" noGrp="1"/>
          </p:cNvSpPr>
          <p:nvPr/>
        </p:nvSpPr>
        <p:spPr>
          <a:xfrm xmlns:a="http://schemas.openxmlformats.org/drawingml/2006/main">
            <a:off x="11239500" y="3619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AEB4C4"/>
                </a:solidFill>
                <a:latin typeface="Helvetica Neue"/>
                <a:ea typeface="Helvetica Neue"/>
                <a:cs typeface="Helvetica Neue"/>
              </a:defRPr>
            </a:pPr>
            <a:r>
              <a:rPr sz="1050" b="1">
                <a:solidFill>
                  <a:srgbClr val="AEB4C4"/>
                </a:solidFill>
                <a:latin typeface="Helvetica Neue"/>
                <a:ea typeface="Helvetica Neue"/>
                <a:cs typeface="Helvetica Neue"/>
              </a:rPr>
              <a:t>05</a:t>
            </a:r>
          </a:p>
        </p:txBody>
      </p:sp>
      <p:sp>
        <p:nvSpPr>
          <p:cNvPr id="4" name="settings-image-frame">
            <a:extLst xmlns:a="http://schemas.openxmlformats.org/drawingml/2006/main">
              <a:ext uri="{FF2B5EF4-FFF2-40B4-BE49-F238E27FC236}">
                <a16:creationId xmlns:a16="http://schemas.microsoft.com/office/drawing/2014/main" id="{B7B46414-15CA-453F-9AB1-2281934194EB}"/>
              </a:ext>
            </a:extLst>
          </p:cNvPr>
          <p:cNvSpPr>
            <a:spLocks xmlns:a="http://schemas.openxmlformats.org/drawingml/2006/main" noGrp="1"/>
          </p:cNvSpPr>
          <p:nvPr/>
        </p:nvSpPr>
        <p:spPr>
          <a:xfrm xmlns:a="http://schemas.openxmlformats.org/drawingml/2006/main">
            <a:off x="495300" y="1638300"/>
            <a:ext cx="5886450" cy="3905250"/>
          </a:xfrm>
          <a:prstGeom xmlns:a="http://schemas.openxmlformats.org/drawingml/2006/main" prst="roundRect">
            <a:avLst>
              <a:gd name="adj" fmla="val 3415"/>
            </a:avLst>
          </a:prstGeom>
          <a:solidFill xmlns:a="http://schemas.openxmlformats.org/drawingml/2006/main">
            <a:srgbClr val="1A1C24"/>
          </a:solidFill>
          <a:ln xmlns:a="http://schemas.openxmlformats.org/drawingml/2006/main" w="9525">
            <a:solidFill>
              <a:srgbClr val="3B4050"/>
            </a:solidFill>
            <a:prstDash val="solid"/>
          </a:ln>
        </p:spPr>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bc077a382bc34858"/>
          <a:srcRect xmlns:a="http://schemas.openxmlformats.org/drawingml/2006/main" l="0" t="550" r="0" b="550"/>
          <a:stretch xmlns:a="http://schemas.openxmlformats.org/drawingml/2006/main">
            <a:fillRect l="0" t="0" r="0" b="0"/>
          </a:stretch>
        </p:blipFill>
        <p:spPr>
          <a:xfrm xmlns:a="http://schemas.openxmlformats.org/drawingml/2006/main">
            <a:off x="590550" y="1733550"/>
            <a:ext cx="5695950" cy="3200400"/>
          </a:xfrm>
          <a:prstGeom xmlns:a="http://schemas.openxmlformats.org/drawingml/2006/main" prst="roundRect">
            <a:avLst>
              <a:gd name="adj" fmla="val 2381"/>
            </a:avLst>
          </a:prstGeom>
        </p:spPr>
      </p:pic>
      <p:sp>
        <p:nvSpPr>
          <p:cNvPr id="6" name="settings-caption">
            <a:extLst xmlns:a="http://schemas.openxmlformats.org/drawingml/2006/main">
              <a:ext uri="{FF2B5EF4-FFF2-40B4-BE49-F238E27FC236}">
                <a16:creationId xmlns:a16="http://schemas.microsoft.com/office/drawing/2014/main" id="{FDDE9A7C-B111-4461-AEB3-686D91E580B6}"/>
              </a:ext>
            </a:extLst>
          </p:cNvPr>
          <p:cNvSpPr>
            <a:spLocks xmlns:a="http://schemas.openxmlformats.org/drawingml/2006/main" noGrp="1"/>
          </p:cNvSpPr>
          <p:nvPr/>
        </p:nvSpPr>
        <p:spPr>
          <a:xfrm xmlns:a="http://schemas.openxmlformats.org/drawingml/2006/main">
            <a:off x="590550" y="5105400"/>
            <a:ext cx="5695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a:solidFill>
                  <a:srgbClr val="AEB4C4"/>
                </a:solidFill>
                <a:latin typeface="Helvetica Neue"/>
                <a:ea typeface="Helvetica Neue"/>
                <a:cs typeface="Helvetica Neue"/>
              </a:defRPr>
            </a:pPr>
            <a:r>
              <a:rPr sz="900">
                <a:solidFill>
                  <a:srgbClr val="AEB4C4"/>
                </a:solidFill>
                <a:latin typeface="Helvetica Neue"/>
                <a:ea typeface="Helvetica Neue"/>
                <a:cs typeface="Helvetica Neue"/>
              </a:rPr>
              <a:t>Settings screen captured from the local TV build</a:t>
            </a:r>
          </a:p>
        </p:txBody>
      </p:sp>
      <p:sp>
        <p:nvSpPr>
          <p:cNvPr id="7" name="label-194">
            <a:extLst xmlns:a="http://schemas.openxmlformats.org/drawingml/2006/main">
              <a:ext uri="{FF2B5EF4-FFF2-40B4-BE49-F238E27FC236}">
                <a16:creationId xmlns:a16="http://schemas.microsoft.com/office/drawing/2014/main" id="{229812CF-0CA4-4F73-AC1B-3B1A53234B8E}"/>
              </a:ext>
            </a:extLst>
          </p:cNvPr>
          <p:cNvSpPr>
            <a:spLocks xmlns:a="http://schemas.openxmlformats.org/drawingml/2006/main" noGrp="1"/>
          </p:cNvSpPr>
          <p:nvPr/>
        </p:nvSpPr>
        <p:spPr>
          <a:xfrm xmlns:a="http://schemas.openxmlformats.org/drawingml/2006/main">
            <a:off x="6743700" y="18478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40D4E8"/>
                </a:solidFill>
                <a:latin typeface="Helvetica Neue"/>
                <a:ea typeface="Helvetica Neue"/>
                <a:cs typeface="Helvetica Neue"/>
              </a:defRPr>
            </a:pPr>
            <a:r>
              <a:rPr sz="975" b="1">
                <a:solidFill>
                  <a:srgbClr val="40D4E8"/>
                </a:solidFill>
                <a:latin typeface="Helvetica Neue"/>
                <a:ea typeface="Helvetica Neue"/>
                <a:cs typeface="Helvetica Neue"/>
              </a:rPr>
              <a:t>ACCOUNT</a:t>
            </a:r>
          </a:p>
        </p:txBody>
      </p:sp>
      <p:sp>
        <p:nvSpPr>
          <p:cNvPr id="8" name="value-194">
            <a:extLst xmlns:a="http://schemas.openxmlformats.org/drawingml/2006/main">
              <a:ext uri="{FF2B5EF4-FFF2-40B4-BE49-F238E27FC236}">
                <a16:creationId xmlns:a16="http://schemas.microsoft.com/office/drawing/2014/main" id="{CD3DC34C-98B7-4B52-9774-78D491732D10}"/>
              </a:ext>
            </a:extLst>
          </p:cNvPr>
          <p:cNvSpPr>
            <a:spLocks xmlns:a="http://schemas.openxmlformats.org/drawingml/2006/main" noGrp="1"/>
          </p:cNvSpPr>
          <p:nvPr/>
        </p:nvSpPr>
        <p:spPr>
          <a:xfrm xmlns:a="http://schemas.openxmlformats.org/drawingml/2006/main">
            <a:off x="6743700" y="2076450"/>
            <a:ext cx="4857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F7F8FC"/>
                </a:solidFill>
                <a:latin typeface="Helvetica Neue"/>
                <a:ea typeface="Helvetica Neue"/>
                <a:cs typeface="Helvetica Neue"/>
              </a:defRPr>
            </a:pPr>
            <a:r>
              <a:rPr sz="1275">
                <a:solidFill>
                  <a:srgbClr val="F7F8FC"/>
                </a:solidFill>
                <a:latin typeface="Helvetica Neue"/>
                <a:ea typeface="Helvetica Neue"/>
                <a:cs typeface="Helvetica Neue"/>
              </a:rPr>
              <a:t>Profile state and supported watch-history synchronization.</a:t>
            </a:r>
          </a:p>
        </p:txBody>
      </p:sp>
      <p:sp>
        <p:nvSpPr>
          <p:cNvPr id="9" name="label-300">
            <a:extLst xmlns:a="http://schemas.openxmlformats.org/drawingml/2006/main">
              <a:ext uri="{FF2B5EF4-FFF2-40B4-BE49-F238E27FC236}">
                <a16:creationId xmlns:a16="http://schemas.microsoft.com/office/drawing/2014/main" id="{38873E60-4C58-4BE5-AD5E-004F69CA52C8}"/>
              </a:ext>
            </a:extLst>
          </p:cNvPr>
          <p:cNvSpPr>
            <a:spLocks xmlns:a="http://schemas.openxmlformats.org/drawingml/2006/main" noGrp="1"/>
          </p:cNvSpPr>
          <p:nvPr/>
        </p:nvSpPr>
        <p:spPr>
          <a:xfrm xmlns:a="http://schemas.openxmlformats.org/drawingml/2006/main">
            <a:off x="6743700" y="28575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A64BEE"/>
                </a:solidFill>
                <a:latin typeface="Helvetica Neue"/>
                <a:ea typeface="Helvetica Neue"/>
                <a:cs typeface="Helvetica Neue"/>
              </a:defRPr>
            </a:pPr>
            <a:r>
              <a:rPr sz="975" b="1">
                <a:solidFill>
                  <a:srgbClr val="A64BEE"/>
                </a:solidFill>
                <a:latin typeface="Helvetica Neue"/>
                <a:ea typeface="Helvetica Neue"/>
                <a:cs typeface="Helvetica Neue"/>
              </a:rPr>
              <a:t>INTEGRATIONS</a:t>
            </a:r>
          </a:p>
        </p:txBody>
      </p:sp>
      <p:sp>
        <p:nvSpPr>
          <p:cNvPr id="10" name="value-300">
            <a:extLst xmlns:a="http://schemas.openxmlformats.org/drawingml/2006/main">
              <a:ext uri="{FF2B5EF4-FFF2-40B4-BE49-F238E27FC236}">
                <a16:creationId xmlns:a16="http://schemas.microsoft.com/office/drawing/2014/main" id="{1FDFC979-3952-48DD-ADF3-98D0DD6570DD}"/>
              </a:ext>
            </a:extLst>
          </p:cNvPr>
          <p:cNvSpPr>
            <a:spLocks xmlns:a="http://schemas.openxmlformats.org/drawingml/2006/main" noGrp="1"/>
          </p:cNvSpPr>
          <p:nvPr/>
        </p:nvSpPr>
        <p:spPr>
          <a:xfrm xmlns:a="http://schemas.openxmlformats.org/drawingml/2006/main">
            <a:off x="6743700" y="3086100"/>
            <a:ext cx="4857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F7F8FC"/>
                </a:solidFill>
                <a:latin typeface="Helvetica Neue"/>
                <a:ea typeface="Helvetica Neue"/>
                <a:cs typeface="Helvetica Neue"/>
              </a:defRPr>
            </a:pPr>
            <a:r>
              <a:rPr sz="1275">
                <a:solidFill>
                  <a:srgbClr val="F7F8FC"/>
                </a:solidFill>
                <a:latin typeface="Helvetica Neue"/>
                <a:ea typeface="Helvetica Neue"/>
                <a:cs typeface="Helvetica Neue"/>
              </a:rPr>
              <a:t>Optional services for cloud libraries and playable links.</a:t>
            </a:r>
          </a:p>
        </p:txBody>
      </p:sp>
      <p:sp>
        <p:nvSpPr>
          <p:cNvPr id="11" name="label-406">
            <a:extLst xmlns:a="http://schemas.openxmlformats.org/drawingml/2006/main">
              <a:ext uri="{FF2B5EF4-FFF2-40B4-BE49-F238E27FC236}">
                <a16:creationId xmlns:a16="http://schemas.microsoft.com/office/drawing/2014/main" id="{D5A13237-2F24-4C80-8AFC-4827FD03A96B}"/>
              </a:ext>
            </a:extLst>
          </p:cNvPr>
          <p:cNvSpPr>
            <a:spLocks xmlns:a="http://schemas.openxmlformats.org/drawingml/2006/main" noGrp="1"/>
          </p:cNvSpPr>
          <p:nvPr/>
        </p:nvSpPr>
        <p:spPr>
          <a:xfrm xmlns:a="http://schemas.openxmlformats.org/drawingml/2006/main">
            <a:off x="6743700" y="38671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4B83F"/>
                </a:solidFill>
                <a:latin typeface="Helvetica Neue"/>
                <a:ea typeface="Helvetica Neue"/>
                <a:cs typeface="Helvetica Neue"/>
              </a:defRPr>
            </a:pPr>
            <a:r>
              <a:rPr sz="975" b="1">
                <a:solidFill>
                  <a:srgbClr val="F4B83F"/>
                </a:solidFill>
                <a:latin typeface="Helvetica Neue"/>
                <a:ea typeface="Helvetica Neue"/>
                <a:cs typeface="Helvetica Neue"/>
              </a:rPr>
              <a:t>PLAYBACK</a:t>
            </a:r>
          </a:p>
        </p:txBody>
      </p:sp>
      <p:sp>
        <p:nvSpPr>
          <p:cNvPr id="12" name="value-406">
            <a:extLst xmlns:a="http://schemas.openxmlformats.org/drawingml/2006/main">
              <a:ext uri="{FF2B5EF4-FFF2-40B4-BE49-F238E27FC236}">
                <a16:creationId xmlns:a16="http://schemas.microsoft.com/office/drawing/2014/main" id="{848969C5-7A8E-47D9-92BC-41B8047A0C8D}"/>
              </a:ext>
            </a:extLst>
          </p:cNvPr>
          <p:cNvSpPr>
            <a:spLocks xmlns:a="http://schemas.openxmlformats.org/drawingml/2006/main" noGrp="1"/>
          </p:cNvSpPr>
          <p:nvPr/>
        </p:nvSpPr>
        <p:spPr>
          <a:xfrm xmlns:a="http://schemas.openxmlformats.org/drawingml/2006/main">
            <a:off x="6743700" y="4095750"/>
            <a:ext cx="4857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F7F8FC"/>
                </a:solidFill>
                <a:latin typeface="Helvetica Neue"/>
                <a:ea typeface="Helvetica Neue"/>
                <a:cs typeface="Helvetica Neue"/>
              </a:defRPr>
            </a:pPr>
            <a:r>
              <a:rPr sz="1275">
                <a:solidFill>
                  <a:srgbClr val="F7F8FC"/>
                </a:solidFill>
                <a:latin typeface="Helvetica Neue"/>
                <a:ea typeface="Helvetica Neue"/>
                <a:cs typeface="Helvetica Neue"/>
              </a:rPr>
              <a:t>Player, audio, subtitle and accessibility preferences.</a:t>
            </a:r>
          </a:p>
        </p:txBody>
      </p:sp>
      <p:sp>
        <p:nvSpPr>
          <p:cNvPr id="13" name="label-512">
            <a:extLst xmlns:a="http://schemas.openxmlformats.org/drawingml/2006/main">
              <a:ext uri="{FF2B5EF4-FFF2-40B4-BE49-F238E27FC236}">
                <a16:creationId xmlns:a16="http://schemas.microsoft.com/office/drawing/2014/main" id="{EB38FB08-B59E-429C-A617-FCD665F3DE71}"/>
              </a:ext>
            </a:extLst>
          </p:cNvPr>
          <p:cNvSpPr>
            <a:spLocks xmlns:a="http://schemas.openxmlformats.org/drawingml/2006/main" noGrp="1"/>
          </p:cNvSpPr>
          <p:nvPr/>
        </p:nvSpPr>
        <p:spPr>
          <a:xfrm xmlns:a="http://schemas.openxmlformats.org/drawingml/2006/main">
            <a:off x="6743700" y="48768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40D4E8"/>
                </a:solidFill>
                <a:latin typeface="Helvetica Neue"/>
                <a:ea typeface="Helvetica Neue"/>
                <a:cs typeface="Helvetica Neue"/>
              </a:defRPr>
            </a:pPr>
            <a:r>
              <a:rPr sz="975" b="1">
                <a:solidFill>
                  <a:srgbClr val="40D4E8"/>
                </a:solidFill>
                <a:latin typeface="Helvetica Neue"/>
                <a:ea typeface="Helvetica Neue"/>
                <a:cs typeface="Helvetica Neue"/>
              </a:rPr>
              <a:t>ADVANCED</a:t>
            </a:r>
          </a:p>
        </p:txBody>
      </p:sp>
      <p:sp>
        <p:nvSpPr>
          <p:cNvPr id="14" name="value-512">
            <a:extLst xmlns:a="http://schemas.openxmlformats.org/drawingml/2006/main">
              <a:ext uri="{FF2B5EF4-FFF2-40B4-BE49-F238E27FC236}">
                <a16:creationId xmlns:a16="http://schemas.microsoft.com/office/drawing/2014/main" id="{BED54BCD-C5AF-4EEE-B56D-62049775B7B8}"/>
              </a:ext>
            </a:extLst>
          </p:cNvPr>
          <p:cNvSpPr>
            <a:spLocks xmlns:a="http://schemas.openxmlformats.org/drawingml/2006/main" noGrp="1"/>
          </p:cNvSpPr>
          <p:nvPr/>
        </p:nvSpPr>
        <p:spPr>
          <a:xfrm xmlns:a="http://schemas.openxmlformats.org/drawingml/2006/main">
            <a:off x="6743700" y="5105400"/>
            <a:ext cx="4857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F7F8FC"/>
                </a:solidFill>
                <a:latin typeface="Helvetica Neue"/>
                <a:ea typeface="Helvetica Neue"/>
                <a:cs typeface="Helvetica Neue"/>
              </a:defRPr>
            </a:pPr>
            <a:r>
              <a:rPr sz="1275">
                <a:solidFill>
                  <a:srgbClr val="F7F8FC"/>
                </a:solidFill>
                <a:latin typeface="Helvetica Neue"/>
                <a:ea typeface="Helvetica Neue"/>
                <a:cs typeface="Helvetica Neue"/>
              </a:rPr>
              <a:t>Capabilities are exposed according to the TV platform and package profile.</a:t>
            </a:r>
          </a:p>
        </p:txBody>
      </p:sp>
      <p:sp>
        <p:nvSpPr>
          <p:cNvPr id="15" name="footer-rule">
            <a:extLst xmlns:a="http://schemas.openxmlformats.org/drawingml/2006/main">
              <a:ext uri="{FF2B5EF4-FFF2-40B4-BE49-F238E27FC236}">
                <a16:creationId xmlns:a16="http://schemas.microsoft.com/office/drawing/2014/main" id="{DB09823A-6972-4C2D-9722-3099BC020487}"/>
              </a:ext>
            </a:extLst>
          </p:cNvPr>
          <p:cNvSpPr>
            <a:spLocks xmlns:a="http://schemas.openxmlformats.org/drawingml/2006/main" noGrp="1"/>
          </p:cNvSpPr>
          <p:nvPr/>
        </p:nvSpPr>
        <p:spPr>
          <a:xfrm xmlns:a="http://schemas.openxmlformats.org/drawingml/2006/main">
            <a:off x="495300" y="6477000"/>
            <a:ext cx="11201400" cy="9525"/>
          </a:xfrm>
          <a:prstGeom xmlns:a="http://schemas.openxmlformats.org/drawingml/2006/main" prst="rect">
            <a:avLst/>
          </a:prstGeom>
          <a:solidFill xmlns:a="http://schemas.openxmlformats.org/drawingml/2006/main">
            <a:srgbClr val="3B4050"/>
          </a:solidFill>
          <a:ln xmlns:a="http://schemas.openxmlformats.org/drawingml/2006/main" w="0">
            <a:noFill/>
            <a:prstDash val="solid"/>
          </a:ln>
        </p:spPr>
      </p:sp>
      <p:sp>
        <p:nvSpPr>
          <p:cNvPr id="16" name="footer">
            <a:extLst xmlns:a="http://schemas.openxmlformats.org/drawingml/2006/main">
              <a:ext uri="{FF2B5EF4-FFF2-40B4-BE49-F238E27FC236}">
                <a16:creationId xmlns:a16="http://schemas.microsoft.com/office/drawing/2014/main" id="{1B1A5875-47E7-4F50-960F-A1754B9CDCFB}"/>
              </a:ext>
            </a:extLst>
          </p:cNvPr>
          <p:cNvSpPr>
            <a:spLocks xmlns:a="http://schemas.openxmlformats.org/drawingml/2006/main" noGrp="1"/>
          </p:cNvSpPr>
          <p:nvPr/>
        </p:nvSpPr>
        <p:spPr>
          <a:xfrm xmlns:a="http://schemas.openxmlformats.org/drawingml/2006/main">
            <a:off x="495300" y="6572250"/>
            <a:ext cx="914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a:solidFill>
                  <a:srgbClr val="AEB4C4"/>
                </a:solidFill>
                <a:latin typeface="Helvetica Neue"/>
                <a:ea typeface="Helvetica Neue"/>
                <a:cs typeface="Helvetica Neue"/>
              </a:defRPr>
            </a:pPr>
            <a:r>
              <a:rPr sz="750">
                <a:solidFill>
                  <a:srgbClr val="AEB4C4"/>
                </a:solidFill>
                <a:latin typeface="Helvetica Neue"/>
                <a:ea typeface="Helvetica Neue"/>
                <a:cs typeface="Helvetica Neue"/>
              </a:rPr>
              <a:t>Nuvio TV • Samsung TV UI Description • submission draft</a:t>
            </a:r>
          </a:p>
        </p:txBody>
      </p:sp>
    </p:spTree>
    <p:extLst>
      <p:ext uri="{BB962C8B-B14F-4D97-AF65-F5344CB8AC3E}">
        <p14:creationId xmlns:p14="http://schemas.microsoft.com/office/powerpoint/2010/main" val="1399156274"/>
      </p:ext>
    </p:extLst>
  </p:cSld>
</p:sld>
</file>

<file path=ppt/slides/slide6.xml><?xml version="1.0" encoding="utf-8"?>
<p:sld xmlns:p="http://schemas.openxmlformats.org/presentationml/2006/main">
  <p:cSld>
    <p:bg>
      <p:bgPr>
        <a:solidFill xmlns:a="http://schemas.openxmlformats.org/drawingml/2006/main">
          <a:srgbClr val="101116"/>
        </a:solidFill>
      </p:bgPr>
    </p:bg>
    <p:spTree>
      <p:nvGrpSpPr>
        <p:cNvPr id="1" name=""/>
        <p:cNvGrpSpPr/>
        <p:nvPr/>
      </p:nvGrpSpPr>
      <p:grpSpPr>
        <a:xfrm xmlns:a="http://schemas.openxmlformats.org/drawingml/2006/main"/>
      </p:grpSpPr>
      <p:sp>
        <p:nvSpPr>
          <p:cNvPr id="22" name="eyebrow-6">
            <a:extLst xmlns:a="http://schemas.openxmlformats.org/drawingml/2006/main">
              <a:ext uri="{FF2B5EF4-FFF2-40B4-BE49-F238E27FC236}">
                <a16:creationId xmlns:a16="http://schemas.microsoft.com/office/drawing/2014/main" id="{999B4576-BA45-49B3-A8FF-11CDBEC74502}"/>
              </a:ext>
            </a:extLst>
          </p:cNvPr>
          <p:cNvSpPr>
            <a:spLocks xmlns:a="http://schemas.openxmlformats.org/drawingml/2006/main" noGrp="1"/>
          </p:cNvSpPr>
          <p:nvPr/>
        </p:nvSpPr>
        <p:spPr>
          <a:xfrm xmlns:a="http://schemas.openxmlformats.org/drawingml/2006/main">
            <a:off x="4953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40D4E8"/>
                </a:solidFill>
                <a:latin typeface="Helvetica Neue"/>
                <a:ea typeface="Helvetica Neue"/>
                <a:cs typeface="Helvetica Neue"/>
              </a:defRPr>
            </a:pPr>
            <a:r>
              <a:rPr sz="900" b="1">
                <a:solidFill>
                  <a:srgbClr val="40D4E8"/>
                </a:solidFill>
                <a:latin typeface="Helvetica Neue"/>
                <a:ea typeface="Helvetica Neue"/>
                <a:cs typeface="Helvetica Neue"/>
              </a:rPr>
              <a:t>CERTIFICATION DISCLOSURE</a:t>
            </a:r>
          </a:p>
        </p:txBody>
      </p:sp>
      <p:sp>
        <p:nvSpPr>
          <p:cNvPr id="2" name="title-6">
            <a:extLst xmlns:a="http://schemas.openxmlformats.org/drawingml/2006/main">
              <a:ext uri="{FF2B5EF4-FFF2-40B4-BE49-F238E27FC236}">
                <a16:creationId xmlns:a16="http://schemas.microsoft.com/office/drawing/2014/main" id="{86DD5831-C84F-48C3-9339-5B19AB9DA70A}"/>
              </a:ext>
            </a:extLst>
          </p:cNvPr>
          <p:cNvSpPr>
            <a:spLocks xmlns:a="http://schemas.openxmlformats.org/drawingml/2006/main" noGrp="1"/>
          </p:cNvSpPr>
          <p:nvPr/>
        </p:nvSpPr>
        <p:spPr>
          <a:xfrm xmlns:a="http://schemas.openxmlformats.org/drawingml/2006/main">
            <a:off x="495300" y="685800"/>
            <a:ext cx="981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8FC"/>
                </a:solidFill>
                <a:latin typeface="Helvetica Neue"/>
                <a:ea typeface="Helvetica Neue"/>
                <a:cs typeface="Helvetica Neue"/>
              </a:defRPr>
            </a:pPr>
            <a:r>
              <a:rPr sz="2550" b="1">
                <a:solidFill>
                  <a:srgbClr val="F7F8FC"/>
                </a:solidFill>
                <a:latin typeface="Helvetica Neue"/>
                <a:ea typeface="Helvetica Neue"/>
                <a:cs typeface="Helvetica Neue"/>
              </a:rPr>
              <a:t>Capabilities follow the package profile</a:t>
            </a:r>
          </a:p>
        </p:txBody>
      </p:sp>
      <p:sp>
        <p:nvSpPr>
          <p:cNvPr id="3" name="page-6">
            <a:extLst xmlns:a="http://schemas.openxmlformats.org/drawingml/2006/main">
              <a:ext uri="{FF2B5EF4-FFF2-40B4-BE49-F238E27FC236}">
                <a16:creationId xmlns:a16="http://schemas.microsoft.com/office/drawing/2014/main" id="{19A24738-82E6-4430-B7E7-20B40865B945}"/>
              </a:ext>
            </a:extLst>
          </p:cNvPr>
          <p:cNvSpPr>
            <a:spLocks xmlns:a="http://schemas.openxmlformats.org/drawingml/2006/main" noGrp="1"/>
          </p:cNvSpPr>
          <p:nvPr/>
        </p:nvSpPr>
        <p:spPr>
          <a:xfrm xmlns:a="http://schemas.openxmlformats.org/drawingml/2006/main">
            <a:off x="11239500" y="3619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AEB4C4"/>
                </a:solidFill>
                <a:latin typeface="Helvetica Neue"/>
                <a:ea typeface="Helvetica Neue"/>
                <a:cs typeface="Helvetica Neue"/>
              </a:defRPr>
            </a:pPr>
            <a:r>
              <a:rPr sz="1050" b="1">
                <a:solidFill>
                  <a:srgbClr val="AEB4C4"/>
                </a:solidFill>
                <a:latin typeface="Helvetica Neue"/>
                <a:ea typeface="Helvetica Neue"/>
                <a:cs typeface="Helvetica Neue"/>
              </a:rPr>
              <a:t>06</a:t>
            </a:r>
          </a:p>
        </p:txBody>
      </p:sp>
      <p:sp>
        <p:nvSpPr>
          <p:cNvPr id="4" name="disclosure-intro">
            <a:extLst xmlns:a="http://schemas.openxmlformats.org/drawingml/2006/main">
              <a:ext uri="{FF2B5EF4-FFF2-40B4-BE49-F238E27FC236}">
                <a16:creationId xmlns:a16="http://schemas.microsoft.com/office/drawing/2014/main" id="{5447CA56-4A0A-4EE6-AD17-7FD1DF64A81B}"/>
              </a:ext>
            </a:extLst>
          </p:cNvPr>
          <p:cNvSpPr>
            <a:spLocks xmlns:a="http://schemas.openxmlformats.org/drawingml/2006/main" noGrp="1"/>
          </p:cNvSpPr>
          <p:nvPr/>
        </p:nvSpPr>
        <p:spPr>
          <a:xfrm xmlns:a="http://schemas.openxmlformats.org/drawingml/2006/main">
            <a:off x="495300" y="1466850"/>
            <a:ext cx="923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a:solidFill>
                  <a:srgbClr val="AEB4C4"/>
                </a:solidFill>
                <a:latin typeface="Helvetica Neue"/>
                <a:ea typeface="Helvetica Neue"/>
                <a:cs typeface="Helvetica Neue"/>
              </a:defRPr>
            </a:pPr>
            <a:r>
              <a:rPr sz="1575">
                <a:solidFill>
                  <a:srgbClr val="AEB4C4"/>
                </a:solidFill>
                <a:latin typeface="Helvetica Neue"/>
                <a:ea typeface="Helvetica Neue"/>
                <a:cs typeface="Helvetica Neue"/>
              </a:rPr>
              <a:t>The UI remains consistent; platform capabilities are declared honestly at runtime.</a:t>
            </a:r>
          </a:p>
        </p:txBody>
      </p:sp>
      <p:sp>
        <p:nvSpPr>
          <p:cNvPr id="5" name="disclosure-card-0">
            <a:extLst xmlns:a="http://schemas.openxmlformats.org/drawingml/2006/main">
              <a:ext uri="{FF2B5EF4-FFF2-40B4-BE49-F238E27FC236}">
                <a16:creationId xmlns:a16="http://schemas.microsoft.com/office/drawing/2014/main" id="{BF0644AA-A6FC-4815-8387-A2A59E64F8D3}"/>
              </a:ext>
            </a:extLst>
          </p:cNvPr>
          <p:cNvSpPr>
            <a:spLocks xmlns:a="http://schemas.openxmlformats.org/drawingml/2006/main" noGrp="1"/>
          </p:cNvSpPr>
          <p:nvPr/>
        </p:nvSpPr>
        <p:spPr>
          <a:xfrm xmlns:a="http://schemas.openxmlformats.org/drawingml/2006/main">
            <a:off x="495300" y="2076450"/>
            <a:ext cx="2476500" cy="2667000"/>
          </a:xfrm>
          <a:prstGeom xmlns:a="http://schemas.openxmlformats.org/drawingml/2006/main" prst="roundRect">
            <a:avLst>
              <a:gd name="adj" fmla="val 4615"/>
            </a:avLst>
          </a:prstGeom>
          <a:solidFill xmlns:a="http://schemas.openxmlformats.org/drawingml/2006/main">
            <a:srgbClr val="1A1C24"/>
          </a:solidFill>
          <a:ln xmlns:a="http://schemas.openxmlformats.org/drawingml/2006/main" w="9525">
            <a:solidFill>
              <a:srgbClr val="3B4050"/>
            </a:solidFill>
            <a:prstDash val="solid"/>
          </a:ln>
        </p:spPr>
      </p:sp>
      <p:sp>
        <p:nvSpPr>
          <p:cNvPr id="6" name="disclosure-head-0">
            <a:extLst xmlns:a="http://schemas.openxmlformats.org/drawingml/2006/main">
              <a:ext uri="{FF2B5EF4-FFF2-40B4-BE49-F238E27FC236}">
                <a16:creationId xmlns:a16="http://schemas.microsoft.com/office/drawing/2014/main" id="{DAFA8257-3052-4511-AE85-B21D402E05ED}"/>
              </a:ext>
            </a:extLst>
          </p:cNvPr>
          <p:cNvSpPr>
            <a:spLocks xmlns:a="http://schemas.openxmlformats.org/drawingml/2006/main" noGrp="1"/>
          </p:cNvSpPr>
          <p:nvPr/>
        </p:nvSpPr>
        <p:spPr>
          <a:xfrm xmlns:a="http://schemas.openxmlformats.org/drawingml/2006/main">
            <a:off x="685800" y="2305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40D4E8"/>
                </a:solidFill>
                <a:latin typeface="Helvetica Neue"/>
                <a:ea typeface="Helvetica Neue"/>
                <a:cs typeface="Helvetica Neue"/>
              </a:defRPr>
            </a:pPr>
            <a:r>
              <a:rPr sz="900" b="1">
                <a:solidFill>
                  <a:srgbClr val="40D4E8"/>
                </a:solidFill>
                <a:latin typeface="Helvetica Neue"/>
                <a:ea typeface="Helvetica Neue"/>
                <a:cs typeface="Helvetica Neue"/>
              </a:rPr>
              <a:t>TARGET</a:t>
            </a:r>
          </a:p>
        </p:txBody>
      </p:sp>
      <p:sp>
        <p:nvSpPr>
          <p:cNvPr id="7" name="disclosure-value-0">
            <a:extLst xmlns:a="http://schemas.openxmlformats.org/drawingml/2006/main">
              <a:ext uri="{FF2B5EF4-FFF2-40B4-BE49-F238E27FC236}">
                <a16:creationId xmlns:a16="http://schemas.microsoft.com/office/drawing/2014/main" id="{93EC70DC-DEBC-4300-939C-C0F140EBB771}"/>
              </a:ext>
            </a:extLst>
          </p:cNvPr>
          <p:cNvSpPr>
            <a:spLocks xmlns:a="http://schemas.openxmlformats.org/drawingml/2006/main" noGrp="1"/>
          </p:cNvSpPr>
          <p:nvPr/>
        </p:nvSpPr>
        <p:spPr>
          <a:xfrm xmlns:a="http://schemas.openxmlformats.org/drawingml/2006/main">
            <a:off x="685800" y="2762250"/>
            <a:ext cx="2095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F7F8FC"/>
                </a:solidFill>
                <a:latin typeface="Helvetica Neue"/>
                <a:ea typeface="Helvetica Neue"/>
                <a:cs typeface="Helvetica Neue"/>
              </a:defRPr>
            </a:pPr>
            <a:r>
              <a:rPr sz="1350">
                <a:solidFill>
                  <a:srgbClr val="F7F8FC"/>
                </a:solidFill>
                <a:latin typeface="Helvetica Neue"/>
                <a:ea typeface="Helvetica Neue"/>
                <a:cs typeface="Helvetica Neue"/>
              </a:rPr>
              <a:t>Tizen 4+</a:t>
            </a:r>
          </a:p>
          <a:p xmlns:a="http://schemas.openxmlformats.org/drawingml/2006/main">
            <a:pPr algn="l">
              <a:defRPr sz="1350">
                <a:solidFill>
                  <a:srgbClr val="F7F8FC"/>
                </a:solidFill>
                <a:latin typeface="Helvetica Neue"/>
                <a:ea typeface="Helvetica Neue"/>
                <a:cs typeface="Helvetica Neue"/>
              </a:defRPr>
            </a:pPr>
            <a:r>
              <a:rPr sz="1350">
                <a:solidFill>
                  <a:srgbClr val="F7F8FC"/>
                </a:solidFill>
                <a:latin typeface="Helvetica Neue"/>
                <a:ea typeface="Helvetica Neue"/>
                <a:cs typeface="Helvetica Neue"/>
              </a:rPr>
              <a:t>TV package floor used by Nuvio.</a:t>
            </a:r>
          </a:p>
        </p:txBody>
      </p:sp>
      <p:sp>
        <p:nvSpPr>
          <p:cNvPr id="8" name="disclosure-card-1">
            <a:extLst xmlns:a="http://schemas.openxmlformats.org/drawingml/2006/main">
              <a:ext uri="{FF2B5EF4-FFF2-40B4-BE49-F238E27FC236}">
                <a16:creationId xmlns:a16="http://schemas.microsoft.com/office/drawing/2014/main" id="{2BFCA1BF-6F38-446A-8D09-BF6A24425EEA}"/>
              </a:ext>
            </a:extLst>
          </p:cNvPr>
          <p:cNvSpPr>
            <a:spLocks xmlns:a="http://schemas.openxmlformats.org/drawingml/2006/main" noGrp="1"/>
          </p:cNvSpPr>
          <p:nvPr/>
        </p:nvSpPr>
        <p:spPr>
          <a:xfrm xmlns:a="http://schemas.openxmlformats.org/drawingml/2006/main">
            <a:off x="3257550" y="2076450"/>
            <a:ext cx="2476500" cy="2667000"/>
          </a:xfrm>
          <a:prstGeom xmlns:a="http://schemas.openxmlformats.org/drawingml/2006/main" prst="roundRect">
            <a:avLst>
              <a:gd name="adj" fmla="val 4615"/>
            </a:avLst>
          </a:prstGeom>
          <a:solidFill xmlns:a="http://schemas.openxmlformats.org/drawingml/2006/main">
            <a:srgbClr val="1A1C24"/>
          </a:solidFill>
          <a:ln xmlns:a="http://schemas.openxmlformats.org/drawingml/2006/main" w="9525">
            <a:solidFill>
              <a:srgbClr val="3B4050"/>
            </a:solidFill>
            <a:prstDash val="solid"/>
          </a:ln>
        </p:spPr>
      </p:sp>
      <p:sp>
        <p:nvSpPr>
          <p:cNvPr id="9" name="disclosure-head-1">
            <a:extLst xmlns:a="http://schemas.openxmlformats.org/drawingml/2006/main">
              <a:ext uri="{FF2B5EF4-FFF2-40B4-BE49-F238E27FC236}">
                <a16:creationId xmlns:a16="http://schemas.microsoft.com/office/drawing/2014/main" id="{3A918090-5F93-4A04-8659-845D961CD4F4}"/>
              </a:ext>
            </a:extLst>
          </p:cNvPr>
          <p:cNvSpPr>
            <a:spLocks xmlns:a="http://schemas.openxmlformats.org/drawingml/2006/main" noGrp="1"/>
          </p:cNvSpPr>
          <p:nvPr/>
        </p:nvSpPr>
        <p:spPr>
          <a:xfrm xmlns:a="http://schemas.openxmlformats.org/drawingml/2006/main">
            <a:off x="3448050" y="2305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40D4E8"/>
                </a:solidFill>
                <a:latin typeface="Helvetica Neue"/>
                <a:ea typeface="Helvetica Neue"/>
                <a:cs typeface="Helvetica Neue"/>
              </a:defRPr>
            </a:pPr>
            <a:r>
              <a:rPr sz="900" b="1">
                <a:solidFill>
                  <a:srgbClr val="40D4E8"/>
                </a:solidFill>
                <a:latin typeface="Helvetica Neue"/>
                <a:ea typeface="Helvetica Neue"/>
                <a:cs typeface="Helvetica Neue"/>
              </a:rPr>
              <a:t>PUBLIC SELLER</a:t>
            </a:r>
          </a:p>
        </p:txBody>
      </p:sp>
      <p:sp>
        <p:nvSpPr>
          <p:cNvPr id="10" name="disclosure-value-1">
            <a:extLst xmlns:a="http://schemas.openxmlformats.org/drawingml/2006/main">
              <a:ext uri="{FF2B5EF4-FFF2-40B4-BE49-F238E27FC236}">
                <a16:creationId xmlns:a16="http://schemas.microsoft.com/office/drawing/2014/main" id="{F8CE3C61-0BB5-4039-BF91-FDD3F7A66EB1}"/>
              </a:ext>
            </a:extLst>
          </p:cNvPr>
          <p:cNvSpPr>
            <a:spLocks xmlns:a="http://schemas.openxmlformats.org/drawingml/2006/main" noGrp="1"/>
          </p:cNvSpPr>
          <p:nvPr/>
        </p:nvSpPr>
        <p:spPr>
          <a:xfrm xmlns:a="http://schemas.openxmlformats.org/drawingml/2006/main">
            <a:off x="3448050" y="2762250"/>
            <a:ext cx="2095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F7F8FC"/>
                </a:solidFill>
                <a:latin typeface="Helvetica Neue"/>
                <a:ea typeface="Helvetica Neue"/>
                <a:cs typeface="Helvetica Neue"/>
              </a:defRPr>
            </a:pPr>
            <a:r>
              <a:rPr sz="1350">
                <a:solidFill>
                  <a:srgbClr val="F7F8FC"/>
                </a:solidFill>
                <a:latin typeface="Helvetica Neue"/>
                <a:ea typeface="Helvetica Neue"/>
                <a:cs typeface="Helvetica Neue"/>
              </a:rPr>
              <a:t>US distribution by default; public privileges only.</a:t>
            </a:r>
          </a:p>
        </p:txBody>
      </p:sp>
      <p:sp>
        <p:nvSpPr>
          <p:cNvPr id="11" name="disclosure-card-2">
            <a:extLst xmlns:a="http://schemas.openxmlformats.org/drawingml/2006/main">
              <a:ext uri="{FF2B5EF4-FFF2-40B4-BE49-F238E27FC236}">
                <a16:creationId xmlns:a16="http://schemas.microsoft.com/office/drawing/2014/main" id="{FFB7DD2E-19FE-4445-B20A-9E8776522F0C}"/>
              </a:ext>
            </a:extLst>
          </p:cNvPr>
          <p:cNvSpPr>
            <a:spLocks xmlns:a="http://schemas.openxmlformats.org/drawingml/2006/main" noGrp="1"/>
          </p:cNvSpPr>
          <p:nvPr/>
        </p:nvSpPr>
        <p:spPr>
          <a:xfrm xmlns:a="http://schemas.openxmlformats.org/drawingml/2006/main">
            <a:off x="6019800" y="2076450"/>
            <a:ext cx="2476500" cy="2667000"/>
          </a:xfrm>
          <a:prstGeom xmlns:a="http://schemas.openxmlformats.org/drawingml/2006/main" prst="roundRect">
            <a:avLst>
              <a:gd name="adj" fmla="val 4615"/>
            </a:avLst>
          </a:prstGeom>
          <a:solidFill xmlns:a="http://schemas.openxmlformats.org/drawingml/2006/main">
            <a:srgbClr val="1A1C24"/>
          </a:solidFill>
          <a:ln xmlns:a="http://schemas.openxmlformats.org/drawingml/2006/main" w="9525">
            <a:solidFill>
              <a:srgbClr val="3B4050"/>
            </a:solidFill>
            <a:prstDash val="solid"/>
          </a:ln>
        </p:spPr>
      </p:sp>
      <p:sp>
        <p:nvSpPr>
          <p:cNvPr id="12" name="disclosure-head-2">
            <a:extLst xmlns:a="http://schemas.openxmlformats.org/drawingml/2006/main">
              <a:ext uri="{FF2B5EF4-FFF2-40B4-BE49-F238E27FC236}">
                <a16:creationId xmlns:a16="http://schemas.microsoft.com/office/drawing/2014/main" id="{72193FD7-9938-4017-865A-1B5CAF3F5518}"/>
              </a:ext>
            </a:extLst>
          </p:cNvPr>
          <p:cNvSpPr>
            <a:spLocks xmlns:a="http://schemas.openxmlformats.org/drawingml/2006/main" noGrp="1"/>
          </p:cNvSpPr>
          <p:nvPr/>
        </p:nvSpPr>
        <p:spPr>
          <a:xfrm xmlns:a="http://schemas.openxmlformats.org/drawingml/2006/main">
            <a:off x="6210300" y="2305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40D4E8"/>
                </a:solidFill>
                <a:latin typeface="Helvetica Neue"/>
                <a:ea typeface="Helvetica Neue"/>
                <a:cs typeface="Helvetica Neue"/>
              </a:defRPr>
            </a:pPr>
            <a:r>
              <a:rPr sz="900" b="1">
                <a:solidFill>
                  <a:srgbClr val="40D4E8"/>
                </a:solidFill>
                <a:latin typeface="Helvetica Neue"/>
                <a:ea typeface="Helvetica Neue"/>
                <a:cs typeface="Helvetica Neue"/>
              </a:rPr>
              <a:t>PARTNER ROUTE</a:t>
            </a:r>
          </a:p>
        </p:txBody>
      </p:sp>
      <p:sp>
        <p:nvSpPr>
          <p:cNvPr id="13" name="disclosure-value-2">
            <a:extLst xmlns:a="http://schemas.openxmlformats.org/drawingml/2006/main">
              <a:ext uri="{FF2B5EF4-FFF2-40B4-BE49-F238E27FC236}">
                <a16:creationId xmlns:a16="http://schemas.microsoft.com/office/drawing/2014/main" id="{A310E7CA-0D4B-40F5-A3DA-B472404F5D23}"/>
              </a:ext>
            </a:extLst>
          </p:cNvPr>
          <p:cNvSpPr>
            <a:spLocks xmlns:a="http://schemas.openxmlformats.org/drawingml/2006/main" noGrp="1"/>
          </p:cNvSpPr>
          <p:nvPr/>
        </p:nvSpPr>
        <p:spPr>
          <a:xfrm xmlns:a="http://schemas.openxmlformats.org/drawingml/2006/main">
            <a:off x="6210300" y="2762250"/>
            <a:ext cx="2095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F7F8FC"/>
                </a:solidFill>
                <a:latin typeface="Helvetica Neue"/>
                <a:ea typeface="Helvetica Neue"/>
                <a:cs typeface="Helvetica Neue"/>
              </a:defRPr>
            </a:pPr>
            <a:r>
              <a:rPr sz="1350">
                <a:solidFill>
                  <a:srgbClr val="F7F8FC"/>
                </a:solidFill>
                <a:latin typeface="Helvetica Neue"/>
                <a:ea typeface="Helvetica Neue"/>
                <a:cs typeface="Helvetica Neue"/>
              </a:rPr>
              <a:t>Required for countries outside the US and partner-level APIs.</a:t>
            </a:r>
          </a:p>
        </p:txBody>
      </p:sp>
      <p:sp>
        <p:nvSpPr>
          <p:cNvPr id="14" name="disclosure-card-3">
            <a:extLst xmlns:a="http://schemas.openxmlformats.org/drawingml/2006/main">
              <a:ext uri="{FF2B5EF4-FFF2-40B4-BE49-F238E27FC236}">
                <a16:creationId xmlns:a16="http://schemas.microsoft.com/office/drawing/2014/main" id="{86BEC21E-CEEE-4B11-9C7F-7C861FD2E38C}"/>
              </a:ext>
            </a:extLst>
          </p:cNvPr>
          <p:cNvSpPr>
            <a:spLocks xmlns:a="http://schemas.openxmlformats.org/drawingml/2006/main" noGrp="1"/>
          </p:cNvSpPr>
          <p:nvPr/>
        </p:nvSpPr>
        <p:spPr>
          <a:xfrm xmlns:a="http://schemas.openxmlformats.org/drawingml/2006/main">
            <a:off x="8782050" y="2076450"/>
            <a:ext cx="2476500" cy="2667000"/>
          </a:xfrm>
          <a:prstGeom xmlns:a="http://schemas.openxmlformats.org/drawingml/2006/main" prst="roundRect">
            <a:avLst>
              <a:gd name="adj" fmla="val 4615"/>
            </a:avLst>
          </a:prstGeom>
          <a:solidFill xmlns:a="http://schemas.openxmlformats.org/drawingml/2006/main">
            <a:srgbClr val="2A2020"/>
          </a:solidFill>
          <a:ln xmlns:a="http://schemas.openxmlformats.org/drawingml/2006/main" w="9525">
            <a:solidFill>
              <a:srgbClr val="8D4B4B"/>
            </a:solidFill>
            <a:prstDash val="solid"/>
          </a:ln>
        </p:spPr>
      </p:sp>
      <p:sp>
        <p:nvSpPr>
          <p:cNvPr id="15" name="disclosure-head-3">
            <a:extLst xmlns:a="http://schemas.openxmlformats.org/drawingml/2006/main">
              <a:ext uri="{FF2B5EF4-FFF2-40B4-BE49-F238E27FC236}">
                <a16:creationId xmlns:a16="http://schemas.microsoft.com/office/drawing/2014/main" id="{3DDAED19-388D-486C-8088-C6D5CB6C3645}"/>
              </a:ext>
            </a:extLst>
          </p:cNvPr>
          <p:cNvSpPr>
            <a:spLocks xmlns:a="http://schemas.openxmlformats.org/drawingml/2006/main" noGrp="1"/>
          </p:cNvSpPr>
          <p:nvPr/>
        </p:nvSpPr>
        <p:spPr>
          <a:xfrm xmlns:a="http://schemas.openxmlformats.org/drawingml/2006/main">
            <a:off x="8972550" y="2305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AA9A"/>
                </a:solidFill>
                <a:latin typeface="Helvetica Neue"/>
                <a:ea typeface="Helvetica Neue"/>
                <a:cs typeface="Helvetica Neue"/>
              </a:defRPr>
            </a:pPr>
            <a:r>
              <a:rPr sz="900" b="1">
                <a:solidFill>
                  <a:srgbClr val="FFAA9A"/>
                </a:solidFill>
                <a:latin typeface="Helvetica Neue"/>
                <a:ea typeface="Helvetica Neue"/>
                <a:cs typeface="Helvetica Neue"/>
              </a:rPr>
              <a:t>CURRENT RULE</a:t>
            </a:r>
          </a:p>
        </p:txBody>
      </p:sp>
      <p:sp>
        <p:nvSpPr>
          <p:cNvPr id="16" name="disclosure-value-3">
            <a:extLst xmlns:a="http://schemas.openxmlformats.org/drawingml/2006/main">
              <a:ext uri="{FF2B5EF4-FFF2-40B4-BE49-F238E27FC236}">
                <a16:creationId xmlns:a16="http://schemas.microsoft.com/office/drawing/2014/main" id="{A0FA90D5-577D-4333-A4CF-BC4DED468874}"/>
              </a:ext>
            </a:extLst>
          </p:cNvPr>
          <p:cNvSpPr>
            <a:spLocks xmlns:a="http://schemas.openxmlformats.org/drawingml/2006/main" noGrp="1"/>
          </p:cNvSpPr>
          <p:nvPr/>
        </p:nvSpPr>
        <p:spPr>
          <a:xfrm xmlns:a="http://schemas.openxmlformats.org/drawingml/2006/main">
            <a:off x="8972550" y="2762250"/>
            <a:ext cx="2095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a:solidFill>
                  <a:srgbClr val="F7F8FC"/>
                </a:solidFill>
                <a:latin typeface="Helvetica Neue"/>
                <a:ea typeface="Helvetica Neue"/>
                <a:cs typeface="Helvetica Neue"/>
              </a:defRPr>
            </a:pPr>
            <a:r>
              <a:rPr sz="1350">
                <a:solidFill>
                  <a:srgbClr val="F7F8FC"/>
                </a:solidFill>
                <a:latin typeface="Helvetica Neue"/>
                <a:ea typeface="Helvetica Neue"/>
                <a:cs typeface="Helvetica Neue"/>
              </a:rPr>
              <a:t>Torrent/P2P is enabled only when the signed package and Samsung approval authorize the service route.</a:t>
            </a:r>
          </a:p>
        </p:txBody>
      </p:sp>
      <p:sp>
        <p:nvSpPr>
          <p:cNvPr id="17" name="disclosure-note">
            <a:extLst xmlns:a="http://schemas.openxmlformats.org/drawingml/2006/main">
              <a:ext uri="{FF2B5EF4-FFF2-40B4-BE49-F238E27FC236}">
                <a16:creationId xmlns:a16="http://schemas.microsoft.com/office/drawing/2014/main" id="{E2C029C1-FE4A-4191-9485-7BDCF7EB0807}"/>
              </a:ext>
            </a:extLst>
          </p:cNvPr>
          <p:cNvSpPr>
            <a:spLocks xmlns:a="http://schemas.openxmlformats.org/drawingml/2006/main" noGrp="1"/>
          </p:cNvSpPr>
          <p:nvPr/>
        </p:nvSpPr>
        <p:spPr>
          <a:xfrm xmlns:a="http://schemas.openxmlformats.org/drawingml/2006/main">
            <a:off x="495300" y="5048250"/>
            <a:ext cx="11201400" cy="876300"/>
          </a:xfrm>
          <a:prstGeom xmlns:a="http://schemas.openxmlformats.org/drawingml/2006/main" prst="roundRect">
            <a:avLst>
              <a:gd name="adj" fmla="val 10870"/>
            </a:avLst>
          </a:prstGeom>
          <a:solidFill xmlns:a="http://schemas.openxmlformats.org/drawingml/2006/main">
            <a:srgbClr val="232631"/>
          </a:solidFill>
          <a:ln xmlns:a="http://schemas.openxmlformats.org/drawingml/2006/main" w="0">
            <a:noFill/>
            <a:prstDash val="solid"/>
          </a:ln>
        </p:spPr>
      </p:sp>
      <p:sp>
        <p:nvSpPr>
          <p:cNvPr id="18" name="submission-note-label">
            <a:extLst xmlns:a="http://schemas.openxmlformats.org/drawingml/2006/main">
              <a:ext uri="{FF2B5EF4-FFF2-40B4-BE49-F238E27FC236}">
                <a16:creationId xmlns:a16="http://schemas.microsoft.com/office/drawing/2014/main" id="{374F8B56-368E-4774-A5C3-8112C02DD501}"/>
              </a:ext>
            </a:extLst>
          </p:cNvPr>
          <p:cNvSpPr>
            <a:spLocks xmlns:a="http://schemas.openxmlformats.org/drawingml/2006/main" noGrp="1"/>
          </p:cNvSpPr>
          <p:nvPr/>
        </p:nvSpPr>
        <p:spPr>
          <a:xfrm xmlns:a="http://schemas.openxmlformats.org/drawingml/2006/main">
            <a:off x="742950" y="5257800"/>
            <a:ext cx="152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4B83F"/>
                </a:solidFill>
                <a:latin typeface="Helvetica Neue"/>
                <a:ea typeface="Helvetica Neue"/>
                <a:cs typeface="Helvetica Neue"/>
              </a:defRPr>
            </a:pPr>
            <a:r>
              <a:rPr sz="975" b="1">
                <a:solidFill>
                  <a:srgbClr val="F4B83F"/>
                </a:solidFill>
                <a:latin typeface="Helvetica Neue"/>
                <a:ea typeface="Helvetica Neue"/>
                <a:cs typeface="Helvetica Neue"/>
              </a:rPr>
              <a:t>Submission note</a:t>
            </a:r>
          </a:p>
        </p:txBody>
      </p:sp>
      <p:sp>
        <p:nvSpPr>
          <p:cNvPr id="19" name="submission-note-value">
            <a:extLst xmlns:a="http://schemas.openxmlformats.org/drawingml/2006/main">
              <a:ext uri="{FF2B5EF4-FFF2-40B4-BE49-F238E27FC236}">
                <a16:creationId xmlns:a16="http://schemas.microsoft.com/office/drawing/2014/main" id="{2571F465-D200-42AE-830C-BF67EE592E99}"/>
              </a:ext>
            </a:extLst>
          </p:cNvPr>
          <p:cNvSpPr>
            <a:spLocks xmlns:a="http://schemas.openxmlformats.org/drawingml/2006/main" noGrp="1"/>
          </p:cNvSpPr>
          <p:nvPr/>
        </p:nvSpPr>
        <p:spPr>
          <a:xfrm xmlns:a="http://schemas.openxmlformats.org/drawingml/2006/main">
            <a:off x="2400300" y="5219700"/>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a:solidFill>
                  <a:srgbClr val="F7F8FC"/>
                </a:solidFill>
                <a:latin typeface="Helvetica Neue"/>
                <a:ea typeface="Helvetica Neue"/>
                <a:cs typeface="Helvetica Neue"/>
              </a:defRPr>
            </a:pPr>
            <a:r>
              <a:rPr sz="1275">
                <a:solidFill>
                  <a:srgbClr val="F7F8FC"/>
                </a:solidFill>
                <a:latin typeface="Helvetica Neue"/>
                <a:ea typeface="Helvetica Neue"/>
                <a:cs typeface="Helvetica Neue"/>
              </a:rPr>
              <a:t>The final WGT must be signed with the publisher’s Tizen security profile and must contain exactly the privileges and metadata approved in Seller Office. This UI document does not grant partner authorization.</a:t>
            </a:r>
          </a:p>
        </p:txBody>
      </p:sp>
      <p:sp>
        <p:nvSpPr>
          <p:cNvPr id="20" name="footer-rule">
            <a:extLst xmlns:a="http://schemas.openxmlformats.org/drawingml/2006/main">
              <a:ext uri="{FF2B5EF4-FFF2-40B4-BE49-F238E27FC236}">
                <a16:creationId xmlns:a16="http://schemas.microsoft.com/office/drawing/2014/main" id="{378F9879-0FB4-4FF5-95B3-9174D67FDD8F}"/>
              </a:ext>
            </a:extLst>
          </p:cNvPr>
          <p:cNvSpPr>
            <a:spLocks xmlns:a="http://schemas.openxmlformats.org/drawingml/2006/main" noGrp="1"/>
          </p:cNvSpPr>
          <p:nvPr/>
        </p:nvSpPr>
        <p:spPr>
          <a:xfrm xmlns:a="http://schemas.openxmlformats.org/drawingml/2006/main">
            <a:off x="495300" y="6477000"/>
            <a:ext cx="11201400" cy="9525"/>
          </a:xfrm>
          <a:prstGeom xmlns:a="http://schemas.openxmlformats.org/drawingml/2006/main" prst="rect">
            <a:avLst/>
          </a:prstGeom>
          <a:solidFill xmlns:a="http://schemas.openxmlformats.org/drawingml/2006/main">
            <a:srgbClr val="3B4050"/>
          </a:solidFill>
          <a:ln xmlns:a="http://schemas.openxmlformats.org/drawingml/2006/main" w="0">
            <a:noFill/>
            <a:prstDash val="solid"/>
          </a:ln>
        </p:spPr>
      </p:sp>
      <p:sp>
        <p:nvSpPr>
          <p:cNvPr id="21" name="footer">
            <a:extLst xmlns:a="http://schemas.openxmlformats.org/drawingml/2006/main">
              <a:ext uri="{FF2B5EF4-FFF2-40B4-BE49-F238E27FC236}">
                <a16:creationId xmlns:a16="http://schemas.microsoft.com/office/drawing/2014/main" id="{54305BEA-08A2-4869-8838-3E17A75858D9}"/>
              </a:ext>
            </a:extLst>
          </p:cNvPr>
          <p:cNvSpPr>
            <a:spLocks xmlns:a="http://schemas.openxmlformats.org/drawingml/2006/main" noGrp="1"/>
          </p:cNvSpPr>
          <p:nvPr/>
        </p:nvSpPr>
        <p:spPr>
          <a:xfrm xmlns:a="http://schemas.openxmlformats.org/drawingml/2006/main">
            <a:off x="495300" y="6572250"/>
            <a:ext cx="914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a:solidFill>
                  <a:srgbClr val="AEB4C4"/>
                </a:solidFill>
                <a:latin typeface="Helvetica Neue"/>
                <a:ea typeface="Helvetica Neue"/>
                <a:cs typeface="Helvetica Neue"/>
              </a:defRPr>
            </a:pPr>
            <a:r>
              <a:rPr sz="750">
                <a:solidFill>
                  <a:srgbClr val="AEB4C4"/>
                </a:solidFill>
                <a:latin typeface="Helvetica Neue"/>
                <a:ea typeface="Helvetica Neue"/>
                <a:cs typeface="Helvetica Neue"/>
              </a:rPr>
              <a:t>Nuvio TV • Samsung TV UI Description • submission draft</a:t>
            </a:r>
          </a:p>
        </p:txBody>
      </p:sp>
    </p:spTree>
    <p:extLst>
      <p:ext uri="{BB962C8B-B14F-4D97-AF65-F5344CB8AC3E}">
        <p14:creationId xmlns:p14="http://schemas.microsoft.com/office/powerpoint/2010/main" val="1463352076"/>
      </p:ext>
    </p:extLst>
  </p:cSld>
</p:sld>
</file>

<file path=ppt/slides/slide7.xml><?xml version="1.0" encoding="utf-8"?>
<p:sld xmlns:p="http://schemas.openxmlformats.org/presentationml/2006/main">
  <p:cSld>
    <p:bg>
      <p:bgPr>
        <a:solidFill xmlns:a="http://schemas.openxmlformats.org/drawingml/2006/main">
          <a:srgbClr val="101116"/>
        </a:solidFill>
      </p:bgPr>
    </p:bg>
    <p:spTree>
      <p:nvGrpSpPr>
        <p:cNvPr id="1" name=""/>
        <p:cNvGrpSpPr/>
        <p:nvPr/>
      </p:nvGrpSpPr>
      <p:grpSpPr>
        <a:xfrm xmlns:a="http://schemas.openxmlformats.org/drawingml/2006/main"/>
      </p:grpSpPr>
      <p:sp>
        <p:nvSpPr>
          <p:cNvPr id="32" name="eyebrow-7">
            <a:extLst xmlns:a="http://schemas.openxmlformats.org/drawingml/2006/main">
              <a:ext uri="{FF2B5EF4-FFF2-40B4-BE49-F238E27FC236}">
                <a16:creationId xmlns:a16="http://schemas.microsoft.com/office/drawing/2014/main" id="{AFDA29D8-45C4-4944-B4AC-005A152A32FE}"/>
              </a:ext>
            </a:extLst>
          </p:cNvPr>
          <p:cNvSpPr>
            <a:spLocks xmlns:a="http://schemas.openxmlformats.org/drawingml/2006/main" noGrp="1"/>
          </p:cNvSpPr>
          <p:nvPr/>
        </p:nvSpPr>
        <p:spPr>
          <a:xfrm xmlns:a="http://schemas.openxmlformats.org/drawingml/2006/main">
            <a:off x="495300" y="3238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40D4E8"/>
                </a:solidFill>
                <a:latin typeface="Helvetica Neue"/>
                <a:ea typeface="Helvetica Neue"/>
                <a:cs typeface="Helvetica Neue"/>
              </a:defRPr>
            </a:pPr>
            <a:r>
              <a:rPr sz="900" b="1">
                <a:solidFill>
                  <a:srgbClr val="40D4E8"/>
                </a:solidFill>
                <a:latin typeface="Helvetica Neue"/>
                <a:ea typeface="Helvetica Neue"/>
                <a:cs typeface="Helvetica Neue"/>
              </a:rPr>
              <a:t>CERTIFICATION TEST SCENARIO</a:t>
            </a:r>
          </a:p>
        </p:txBody>
      </p:sp>
      <p:sp>
        <p:nvSpPr>
          <p:cNvPr id="2" name="title-7">
            <a:extLst xmlns:a="http://schemas.openxmlformats.org/drawingml/2006/main">
              <a:ext uri="{FF2B5EF4-FFF2-40B4-BE49-F238E27FC236}">
                <a16:creationId xmlns:a16="http://schemas.microsoft.com/office/drawing/2014/main" id="{1BB60A68-B48F-4C2E-AF4D-08119B91EF8D}"/>
              </a:ext>
            </a:extLst>
          </p:cNvPr>
          <p:cNvSpPr>
            <a:spLocks xmlns:a="http://schemas.openxmlformats.org/drawingml/2006/main" noGrp="1"/>
          </p:cNvSpPr>
          <p:nvPr/>
        </p:nvSpPr>
        <p:spPr>
          <a:xfrm xmlns:a="http://schemas.openxmlformats.org/drawingml/2006/main">
            <a:off x="495300" y="685800"/>
            <a:ext cx="9810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7F8FC"/>
                </a:solidFill>
                <a:latin typeface="Helvetica Neue"/>
                <a:ea typeface="Helvetica Neue"/>
                <a:cs typeface="Helvetica Neue"/>
              </a:defRPr>
            </a:pPr>
            <a:r>
              <a:rPr sz="2550" b="1">
                <a:solidFill>
                  <a:srgbClr val="F7F8FC"/>
                </a:solidFill>
                <a:latin typeface="Helvetica Neue"/>
                <a:ea typeface="Helvetica Neue"/>
                <a:cs typeface="Helvetica Neue"/>
              </a:rPr>
              <a:t>Suggested verification path</a:t>
            </a:r>
          </a:p>
        </p:txBody>
      </p:sp>
      <p:sp>
        <p:nvSpPr>
          <p:cNvPr id="3" name="page-7">
            <a:extLst xmlns:a="http://schemas.openxmlformats.org/drawingml/2006/main">
              <a:ext uri="{FF2B5EF4-FFF2-40B4-BE49-F238E27FC236}">
                <a16:creationId xmlns:a16="http://schemas.microsoft.com/office/drawing/2014/main" id="{66AF1503-37CB-4D7E-8984-0DA2359C780D}"/>
              </a:ext>
            </a:extLst>
          </p:cNvPr>
          <p:cNvSpPr>
            <a:spLocks xmlns:a="http://schemas.openxmlformats.org/drawingml/2006/main" noGrp="1"/>
          </p:cNvSpPr>
          <p:nvPr/>
        </p:nvSpPr>
        <p:spPr>
          <a:xfrm xmlns:a="http://schemas.openxmlformats.org/drawingml/2006/main">
            <a:off x="11239500" y="361950"/>
            <a:ext cx="457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AEB4C4"/>
                </a:solidFill>
                <a:latin typeface="Helvetica Neue"/>
                <a:ea typeface="Helvetica Neue"/>
                <a:cs typeface="Helvetica Neue"/>
              </a:defRPr>
            </a:pPr>
            <a:r>
              <a:rPr sz="1050" b="1">
                <a:solidFill>
                  <a:srgbClr val="AEB4C4"/>
                </a:solidFill>
                <a:latin typeface="Helvetica Neue"/>
                <a:ea typeface="Helvetica Neue"/>
                <a:cs typeface="Helvetica Neue"/>
              </a:rPr>
              <a:t>07</a:t>
            </a:r>
          </a:p>
        </p:txBody>
      </p:sp>
      <p:sp>
        <p:nvSpPr>
          <p:cNvPr id="4" name="qa-card-0">
            <a:extLst xmlns:a="http://schemas.openxmlformats.org/drawingml/2006/main">
              <a:ext uri="{FF2B5EF4-FFF2-40B4-BE49-F238E27FC236}">
                <a16:creationId xmlns:a16="http://schemas.microsoft.com/office/drawing/2014/main" id="{7E140006-9AC3-41D4-AE4C-B6B9119925A6}"/>
              </a:ext>
            </a:extLst>
          </p:cNvPr>
          <p:cNvSpPr>
            <a:spLocks xmlns:a="http://schemas.openxmlformats.org/drawingml/2006/main" noGrp="1"/>
          </p:cNvSpPr>
          <p:nvPr/>
        </p:nvSpPr>
        <p:spPr>
          <a:xfrm xmlns:a="http://schemas.openxmlformats.org/drawingml/2006/main">
            <a:off x="495300" y="1752600"/>
            <a:ext cx="3143250" cy="1504950"/>
          </a:xfrm>
          <a:prstGeom xmlns:a="http://schemas.openxmlformats.org/drawingml/2006/main" prst="roundRect">
            <a:avLst>
              <a:gd name="adj" fmla="val 7595"/>
            </a:avLst>
          </a:prstGeom>
          <a:solidFill xmlns:a="http://schemas.openxmlformats.org/drawingml/2006/main">
            <a:srgbClr val="1A1C24"/>
          </a:solidFill>
          <a:ln xmlns:a="http://schemas.openxmlformats.org/drawingml/2006/main" w="9525">
            <a:solidFill>
              <a:srgbClr val="3B4050"/>
            </a:solidFill>
            <a:prstDash val="solid"/>
          </a:ln>
        </p:spPr>
      </p:sp>
      <p:sp>
        <p:nvSpPr>
          <p:cNvPr id="5" name="qa-number-0">
            <a:extLst xmlns:a="http://schemas.openxmlformats.org/drawingml/2006/main">
              <a:ext uri="{FF2B5EF4-FFF2-40B4-BE49-F238E27FC236}">
                <a16:creationId xmlns:a16="http://schemas.microsoft.com/office/drawing/2014/main" id="{744B04D0-F72D-4AB1-8F05-AF6C55424D4A}"/>
              </a:ext>
            </a:extLst>
          </p:cNvPr>
          <p:cNvSpPr>
            <a:spLocks xmlns:a="http://schemas.openxmlformats.org/drawingml/2006/main" noGrp="1"/>
          </p:cNvSpPr>
          <p:nvPr/>
        </p:nvSpPr>
        <p:spPr>
          <a:xfrm xmlns:a="http://schemas.openxmlformats.org/drawingml/2006/main">
            <a:off x="704850" y="19621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40D4E8"/>
                </a:solidFill>
                <a:latin typeface="Helvetica Neue"/>
                <a:ea typeface="Helvetica Neue"/>
                <a:cs typeface="Helvetica Neue"/>
              </a:defRPr>
            </a:pPr>
            <a:r>
              <a:rPr sz="1500" b="1">
                <a:solidFill>
                  <a:srgbClr val="40D4E8"/>
                </a:solidFill>
                <a:latin typeface="Helvetica Neue"/>
                <a:ea typeface="Helvetica Neue"/>
                <a:cs typeface="Helvetica Neue"/>
              </a:rPr>
              <a:t>01</a:t>
            </a:r>
          </a:p>
        </p:txBody>
      </p:sp>
      <p:sp>
        <p:nvSpPr>
          <p:cNvPr id="6" name="qa-title-0">
            <a:extLst xmlns:a="http://schemas.openxmlformats.org/drawingml/2006/main">
              <a:ext uri="{FF2B5EF4-FFF2-40B4-BE49-F238E27FC236}">
                <a16:creationId xmlns:a16="http://schemas.microsoft.com/office/drawing/2014/main" id="{0832C206-419C-4707-A43A-12079DE8E81F}"/>
              </a:ext>
            </a:extLst>
          </p:cNvPr>
          <p:cNvSpPr>
            <a:spLocks xmlns:a="http://schemas.openxmlformats.org/drawingml/2006/main" noGrp="1"/>
          </p:cNvSpPr>
          <p:nvPr/>
        </p:nvSpPr>
        <p:spPr>
          <a:xfrm xmlns:a="http://schemas.openxmlformats.org/drawingml/2006/main">
            <a:off x="1390650" y="19621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7F8FC"/>
                </a:solidFill>
                <a:latin typeface="Helvetica Neue"/>
                <a:ea typeface="Helvetica Neue"/>
                <a:cs typeface="Helvetica Neue"/>
              </a:defRPr>
            </a:pPr>
            <a:r>
              <a:rPr sz="1650" b="1">
                <a:solidFill>
                  <a:srgbClr val="F7F8FC"/>
                </a:solidFill>
                <a:latin typeface="Helvetica Neue"/>
                <a:ea typeface="Helvetica Neue"/>
                <a:cs typeface="Helvetica Neue"/>
              </a:rPr>
              <a:t>Launch</a:t>
            </a:r>
          </a:p>
        </p:txBody>
      </p:sp>
      <p:sp>
        <p:nvSpPr>
          <p:cNvPr id="7" name="qa-value-0">
            <a:extLst xmlns:a="http://schemas.openxmlformats.org/drawingml/2006/main">
              <a:ext uri="{FF2B5EF4-FFF2-40B4-BE49-F238E27FC236}">
                <a16:creationId xmlns:a16="http://schemas.microsoft.com/office/drawing/2014/main" id="{51D58F90-2214-4E2E-86F6-3B0D886E412E}"/>
              </a:ext>
            </a:extLst>
          </p:cNvPr>
          <p:cNvSpPr>
            <a:spLocks xmlns:a="http://schemas.openxmlformats.org/drawingml/2006/main" noGrp="1"/>
          </p:cNvSpPr>
          <p:nvPr/>
        </p:nvSpPr>
        <p:spPr>
          <a:xfrm xmlns:a="http://schemas.openxmlformats.org/drawingml/2006/main">
            <a:off x="704850" y="2438400"/>
            <a:ext cx="2724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AEB4C4"/>
                </a:solidFill>
                <a:latin typeface="Helvetica Neue"/>
                <a:ea typeface="Helvetica Neue"/>
                <a:cs typeface="Helvetica Neue"/>
              </a:defRPr>
            </a:pPr>
            <a:r>
              <a:rPr sz="1200">
                <a:solidFill>
                  <a:srgbClr val="AEB4C4"/>
                </a:solidFill>
                <a:latin typeface="Helvetica Neue"/>
                <a:ea typeface="Helvetica Neue"/>
                <a:cs typeface="Helvetica Neue"/>
              </a:rPr>
              <a:t>Open the signed WGT and verify the initial profile screen.</a:t>
            </a:r>
          </a:p>
        </p:txBody>
      </p:sp>
      <p:sp>
        <p:nvSpPr>
          <p:cNvPr id="8" name="qa-card-1">
            <a:extLst xmlns:a="http://schemas.openxmlformats.org/drawingml/2006/main">
              <a:ext uri="{FF2B5EF4-FFF2-40B4-BE49-F238E27FC236}">
                <a16:creationId xmlns:a16="http://schemas.microsoft.com/office/drawing/2014/main" id="{C4667B10-4FD9-4114-A848-DA7840A96301}"/>
              </a:ext>
            </a:extLst>
          </p:cNvPr>
          <p:cNvSpPr>
            <a:spLocks xmlns:a="http://schemas.openxmlformats.org/drawingml/2006/main" noGrp="1"/>
          </p:cNvSpPr>
          <p:nvPr/>
        </p:nvSpPr>
        <p:spPr>
          <a:xfrm xmlns:a="http://schemas.openxmlformats.org/drawingml/2006/main">
            <a:off x="4114800" y="1752600"/>
            <a:ext cx="3143250" cy="1504950"/>
          </a:xfrm>
          <a:prstGeom xmlns:a="http://schemas.openxmlformats.org/drawingml/2006/main" prst="roundRect">
            <a:avLst>
              <a:gd name="adj" fmla="val 7595"/>
            </a:avLst>
          </a:prstGeom>
          <a:solidFill xmlns:a="http://schemas.openxmlformats.org/drawingml/2006/main">
            <a:srgbClr val="1A1C24"/>
          </a:solidFill>
          <a:ln xmlns:a="http://schemas.openxmlformats.org/drawingml/2006/main" w="9525">
            <a:solidFill>
              <a:srgbClr val="3B4050"/>
            </a:solidFill>
            <a:prstDash val="solid"/>
          </a:ln>
        </p:spPr>
      </p:sp>
      <p:sp>
        <p:nvSpPr>
          <p:cNvPr id="9" name="qa-number-1">
            <a:extLst xmlns:a="http://schemas.openxmlformats.org/drawingml/2006/main">
              <a:ext uri="{FF2B5EF4-FFF2-40B4-BE49-F238E27FC236}">
                <a16:creationId xmlns:a16="http://schemas.microsoft.com/office/drawing/2014/main" id="{7FEABDBA-EBE3-4AD5-8A68-64C33F6E1D64}"/>
              </a:ext>
            </a:extLst>
          </p:cNvPr>
          <p:cNvSpPr>
            <a:spLocks xmlns:a="http://schemas.openxmlformats.org/drawingml/2006/main" noGrp="1"/>
          </p:cNvSpPr>
          <p:nvPr/>
        </p:nvSpPr>
        <p:spPr>
          <a:xfrm xmlns:a="http://schemas.openxmlformats.org/drawingml/2006/main">
            <a:off x="4324350" y="19621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40D4E8"/>
                </a:solidFill>
                <a:latin typeface="Helvetica Neue"/>
                <a:ea typeface="Helvetica Neue"/>
                <a:cs typeface="Helvetica Neue"/>
              </a:defRPr>
            </a:pPr>
            <a:r>
              <a:rPr sz="1500" b="1">
                <a:solidFill>
                  <a:srgbClr val="40D4E8"/>
                </a:solidFill>
                <a:latin typeface="Helvetica Neue"/>
                <a:ea typeface="Helvetica Neue"/>
                <a:cs typeface="Helvetica Neue"/>
              </a:rPr>
              <a:t>02</a:t>
            </a:r>
          </a:p>
        </p:txBody>
      </p:sp>
      <p:sp>
        <p:nvSpPr>
          <p:cNvPr id="10" name="qa-title-1">
            <a:extLst xmlns:a="http://schemas.openxmlformats.org/drawingml/2006/main">
              <a:ext uri="{FF2B5EF4-FFF2-40B4-BE49-F238E27FC236}">
                <a16:creationId xmlns:a16="http://schemas.microsoft.com/office/drawing/2014/main" id="{4C27140D-7826-4EB6-8C38-428439EFF72E}"/>
              </a:ext>
            </a:extLst>
          </p:cNvPr>
          <p:cNvSpPr>
            <a:spLocks xmlns:a="http://schemas.openxmlformats.org/drawingml/2006/main" noGrp="1"/>
          </p:cNvSpPr>
          <p:nvPr/>
        </p:nvSpPr>
        <p:spPr>
          <a:xfrm xmlns:a="http://schemas.openxmlformats.org/drawingml/2006/main">
            <a:off x="5010150" y="19621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7F8FC"/>
                </a:solidFill>
                <a:latin typeface="Helvetica Neue"/>
                <a:ea typeface="Helvetica Neue"/>
                <a:cs typeface="Helvetica Neue"/>
              </a:defRPr>
            </a:pPr>
            <a:r>
              <a:rPr sz="1650" b="1">
                <a:solidFill>
                  <a:srgbClr val="F7F8FC"/>
                </a:solidFill>
                <a:latin typeface="Helvetica Neue"/>
                <a:ea typeface="Helvetica Neue"/>
                <a:cs typeface="Helvetica Neue"/>
              </a:rPr>
              <a:t>Home</a:t>
            </a:r>
          </a:p>
        </p:txBody>
      </p:sp>
      <p:sp>
        <p:nvSpPr>
          <p:cNvPr id="11" name="qa-value-1">
            <a:extLst xmlns:a="http://schemas.openxmlformats.org/drawingml/2006/main">
              <a:ext uri="{FF2B5EF4-FFF2-40B4-BE49-F238E27FC236}">
                <a16:creationId xmlns:a16="http://schemas.microsoft.com/office/drawing/2014/main" id="{62BE666C-E305-473A-BB69-9A5E1BA898DB}"/>
              </a:ext>
            </a:extLst>
          </p:cNvPr>
          <p:cNvSpPr>
            <a:spLocks xmlns:a="http://schemas.openxmlformats.org/drawingml/2006/main" noGrp="1"/>
          </p:cNvSpPr>
          <p:nvPr/>
        </p:nvSpPr>
        <p:spPr>
          <a:xfrm xmlns:a="http://schemas.openxmlformats.org/drawingml/2006/main">
            <a:off x="4324350" y="2438400"/>
            <a:ext cx="2724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AEB4C4"/>
                </a:solidFill>
                <a:latin typeface="Helvetica Neue"/>
                <a:ea typeface="Helvetica Neue"/>
                <a:cs typeface="Helvetica Neue"/>
              </a:defRPr>
            </a:pPr>
            <a:r>
              <a:rPr sz="1200">
                <a:solidFill>
                  <a:srgbClr val="AEB4C4"/>
                </a:solidFill>
                <a:latin typeface="Helvetica Neue"/>
                <a:ea typeface="Helvetica Neue"/>
                <a:cs typeface="Helvetica Neue"/>
              </a:rPr>
              <a:t>Select a profile and verify hero focus, rows and remote navigation.</a:t>
            </a:r>
          </a:p>
        </p:txBody>
      </p:sp>
      <p:sp>
        <p:nvSpPr>
          <p:cNvPr id="12" name="qa-card-2">
            <a:extLst xmlns:a="http://schemas.openxmlformats.org/drawingml/2006/main">
              <a:ext uri="{FF2B5EF4-FFF2-40B4-BE49-F238E27FC236}">
                <a16:creationId xmlns:a16="http://schemas.microsoft.com/office/drawing/2014/main" id="{12E937AC-98AC-486D-A4A0-6D0D7A513500}"/>
              </a:ext>
            </a:extLst>
          </p:cNvPr>
          <p:cNvSpPr>
            <a:spLocks xmlns:a="http://schemas.openxmlformats.org/drawingml/2006/main" noGrp="1"/>
          </p:cNvSpPr>
          <p:nvPr/>
        </p:nvSpPr>
        <p:spPr>
          <a:xfrm xmlns:a="http://schemas.openxmlformats.org/drawingml/2006/main">
            <a:off x="7734300" y="1752600"/>
            <a:ext cx="3143250" cy="1504950"/>
          </a:xfrm>
          <a:prstGeom xmlns:a="http://schemas.openxmlformats.org/drawingml/2006/main" prst="roundRect">
            <a:avLst>
              <a:gd name="adj" fmla="val 7595"/>
            </a:avLst>
          </a:prstGeom>
          <a:solidFill xmlns:a="http://schemas.openxmlformats.org/drawingml/2006/main">
            <a:srgbClr val="1A1C24"/>
          </a:solidFill>
          <a:ln xmlns:a="http://schemas.openxmlformats.org/drawingml/2006/main" w="9525">
            <a:solidFill>
              <a:srgbClr val="3B4050"/>
            </a:solidFill>
            <a:prstDash val="solid"/>
          </a:ln>
        </p:spPr>
      </p:sp>
      <p:sp>
        <p:nvSpPr>
          <p:cNvPr id="13" name="qa-number-2">
            <a:extLst xmlns:a="http://schemas.openxmlformats.org/drawingml/2006/main">
              <a:ext uri="{FF2B5EF4-FFF2-40B4-BE49-F238E27FC236}">
                <a16:creationId xmlns:a16="http://schemas.microsoft.com/office/drawing/2014/main" id="{09490D72-23C7-4C53-A9EA-266438006461}"/>
              </a:ext>
            </a:extLst>
          </p:cNvPr>
          <p:cNvSpPr>
            <a:spLocks xmlns:a="http://schemas.openxmlformats.org/drawingml/2006/main" noGrp="1"/>
          </p:cNvSpPr>
          <p:nvPr/>
        </p:nvSpPr>
        <p:spPr>
          <a:xfrm xmlns:a="http://schemas.openxmlformats.org/drawingml/2006/main">
            <a:off x="7943850" y="19621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40D4E8"/>
                </a:solidFill>
                <a:latin typeface="Helvetica Neue"/>
                <a:ea typeface="Helvetica Neue"/>
                <a:cs typeface="Helvetica Neue"/>
              </a:defRPr>
            </a:pPr>
            <a:r>
              <a:rPr sz="1500" b="1">
                <a:solidFill>
                  <a:srgbClr val="40D4E8"/>
                </a:solidFill>
                <a:latin typeface="Helvetica Neue"/>
                <a:ea typeface="Helvetica Neue"/>
                <a:cs typeface="Helvetica Neue"/>
              </a:rPr>
              <a:t>03</a:t>
            </a:r>
          </a:p>
        </p:txBody>
      </p:sp>
      <p:sp>
        <p:nvSpPr>
          <p:cNvPr id="14" name="qa-title-2">
            <a:extLst xmlns:a="http://schemas.openxmlformats.org/drawingml/2006/main">
              <a:ext uri="{FF2B5EF4-FFF2-40B4-BE49-F238E27FC236}">
                <a16:creationId xmlns:a16="http://schemas.microsoft.com/office/drawing/2014/main" id="{9B51281C-1493-4A9A-9366-1EA636D9E57C}"/>
              </a:ext>
            </a:extLst>
          </p:cNvPr>
          <p:cNvSpPr>
            <a:spLocks xmlns:a="http://schemas.openxmlformats.org/drawingml/2006/main" noGrp="1"/>
          </p:cNvSpPr>
          <p:nvPr/>
        </p:nvSpPr>
        <p:spPr>
          <a:xfrm xmlns:a="http://schemas.openxmlformats.org/drawingml/2006/main">
            <a:off x="8629650" y="19621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7F8FC"/>
                </a:solidFill>
                <a:latin typeface="Helvetica Neue"/>
                <a:ea typeface="Helvetica Neue"/>
                <a:cs typeface="Helvetica Neue"/>
              </a:defRPr>
            </a:pPr>
            <a:r>
              <a:rPr sz="1650" b="1">
                <a:solidFill>
                  <a:srgbClr val="F7F8FC"/>
                </a:solidFill>
                <a:latin typeface="Helvetica Neue"/>
                <a:ea typeface="Helvetica Neue"/>
                <a:cs typeface="Helvetica Neue"/>
              </a:rPr>
              <a:t>Search</a:t>
            </a:r>
          </a:p>
        </p:txBody>
      </p:sp>
      <p:sp>
        <p:nvSpPr>
          <p:cNvPr id="15" name="qa-value-2">
            <a:extLst xmlns:a="http://schemas.openxmlformats.org/drawingml/2006/main">
              <a:ext uri="{FF2B5EF4-FFF2-40B4-BE49-F238E27FC236}">
                <a16:creationId xmlns:a16="http://schemas.microsoft.com/office/drawing/2014/main" id="{9CF4A9C8-694C-4A17-A9B4-1416E49F9CE5}"/>
              </a:ext>
            </a:extLst>
          </p:cNvPr>
          <p:cNvSpPr>
            <a:spLocks xmlns:a="http://schemas.openxmlformats.org/drawingml/2006/main" noGrp="1"/>
          </p:cNvSpPr>
          <p:nvPr/>
        </p:nvSpPr>
        <p:spPr>
          <a:xfrm xmlns:a="http://schemas.openxmlformats.org/drawingml/2006/main">
            <a:off x="7943850" y="2438400"/>
            <a:ext cx="2724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AEB4C4"/>
                </a:solidFill>
                <a:latin typeface="Helvetica Neue"/>
                <a:ea typeface="Helvetica Neue"/>
                <a:cs typeface="Helvetica Neue"/>
              </a:defRPr>
            </a:pPr>
            <a:r>
              <a:rPr sz="1200">
                <a:solidFill>
                  <a:srgbClr val="AEB4C4"/>
                </a:solidFill>
                <a:latin typeface="Helvetica Neue"/>
                <a:ea typeface="Helvetica Neue"/>
                <a:cs typeface="Helvetica Neue"/>
              </a:rPr>
              <a:t>Search a known title and open the matching result.</a:t>
            </a:r>
          </a:p>
        </p:txBody>
      </p:sp>
      <p:sp>
        <p:nvSpPr>
          <p:cNvPr id="16" name="qa-card-3">
            <a:extLst xmlns:a="http://schemas.openxmlformats.org/drawingml/2006/main">
              <a:ext uri="{FF2B5EF4-FFF2-40B4-BE49-F238E27FC236}">
                <a16:creationId xmlns:a16="http://schemas.microsoft.com/office/drawing/2014/main" id="{72F6C7A5-224D-4E1A-9ED9-20267DDA3912}"/>
              </a:ext>
            </a:extLst>
          </p:cNvPr>
          <p:cNvSpPr>
            <a:spLocks xmlns:a="http://schemas.openxmlformats.org/drawingml/2006/main" noGrp="1"/>
          </p:cNvSpPr>
          <p:nvPr/>
        </p:nvSpPr>
        <p:spPr>
          <a:xfrm xmlns:a="http://schemas.openxmlformats.org/drawingml/2006/main">
            <a:off x="495300" y="3695700"/>
            <a:ext cx="3143250" cy="1504950"/>
          </a:xfrm>
          <a:prstGeom xmlns:a="http://schemas.openxmlformats.org/drawingml/2006/main" prst="roundRect">
            <a:avLst>
              <a:gd name="adj" fmla="val 7595"/>
            </a:avLst>
          </a:prstGeom>
          <a:solidFill xmlns:a="http://schemas.openxmlformats.org/drawingml/2006/main">
            <a:srgbClr val="1A1C24"/>
          </a:solidFill>
          <a:ln xmlns:a="http://schemas.openxmlformats.org/drawingml/2006/main" w="9525">
            <a:solidFill>
              <a:srgbClr val="3B4050"/>
            </a:solidFill>
            <a:prstDash val="solid"/>
          </a:ln>
        </p:spPr>
      </p:sp>
      <p:sp>
        <p:nvSpPr>
          <p:cNvPr id="17" name="qa-number-3">
            <a:extLst xmlns:a="http://schemas.openxmlformats.org/drawingml/2006/main">
              <a:ext uri="{FF2B5EF4-FFF2-40B4-BE49-F238E27FC236}">
                <a16:creationId xmlns:a16="http://schemas.microsoft.com/office/drawing/2014/main" id="{16D9A02A-EDD3-4DA9-BDD9-B8DDD4D01C3C}"/>
              </a:ext>
            </a:extLst>
          </p:cNvPr>
          <p:cNvSpPr>
            <a:spLocks xmlns:a="http://schemas.openxmlformats.org/drawingml/2006/main" noGrp="1"/>
          </p:cNvSpPr>
          <p:nvPr/>
        </p:nvSpPr>
        <p:spPr>
          <a:xfrm xmlns:a="http://schemas.openxmlformats.org/drawingml/2006/main">
            <a:off x="704850" y="39052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40D4E8"/>
                </a:solidFill>
                <a:latin typeface="Helvetica Neue"/>
                <a:ea typeface="Helvetica Neue"/>
                <a:cs typeface="Helvetica Neue"/>
              </a:defRPr>
            </a:pPr>
            <a:r>
              <a:rPr sz="1500" b="1">
                <a:solidFill>
                  <a:srgbClr val="40D4E8"/>
                </a:solidFill>
                <a:latin typeface="Helvetica Neue"/>
                <a:ea typeface="Helvetica Neue"/>
                <a:cs typeface="Helvetica Neue"/>
              </a:rPr>
              <a:t>04</a:t>
            </a:r>
          </a:p>
        </p:txBody>
      </p:sp>
      <p:sp>
        <p:nvSpPr>
          <p:cNvPr id="18" name="qa-title-3">
            <a:extLst xmlns:a="http://schemas.openxmlformats.org/drawingml/2006/main">
              <a:ext uri="{FF2B5EF4-FFF2-40B4-BE49-F238E27FC236}">
                <a16:creationId xmlns:a16="http://schemas.microsoft.com/office/drawing/2014/main" id="{6668691C-01D6-4355-9E3D-8EE1F56F1477}"/>
              </a:ext>
            </a:extLst>
          </p:cNvPr>
          <p:cNvSpPr>
            <a:spLocks xmlns:a="http://schemas.openxmlformats.org/drawingml/2006/main" noGrp="1"/>
          </p:cNvSpPr>
          <p:nvPr/>
        </p:nvSpPr>
        <p:spPr>
          <a:xfrm xmlns:a="http://schemas.openxmlformats.org/drawingml/2006/main">
            <a:off x="1390650" y="3905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7F8FC"/>
                </a:solidFill>
                <a:latin typeface="Helvetica Neue"/>
                <a:ea typeface="Helvetica Neue"/>
                <a:cs typeface="Helvetica Neue"/>
              </a:defRPr>
            </a:pPr>
            <a:r>
              <a:rPr sz="1650" b="1">
                <a:solidFill>
                  <a:srgbClr val="F7F8FC"/>
                </a:solidFill>
                <a:latin typeface="Helvetica Neue"/>
                <a:ea typeface="Helvetica Neue"/>
                <a:cs typeface="Helvetica Neue"/>
              </a:rPr>
              <a:t>Library</a:t>
            </a:r>
          </a:p>
        </p:txBody>
      </p:sp>
      <p:sp>
        <p:nvSpPr>
          <p:cNvPr id="19" name="qa-value-3">
            <a:extLst xmlns:a="http://schemas.openxmlformats.org/drawingml/2006/main">
              <a:ext uri="{FF2B5EF4-FFF2-40B4-BE49-F238E27FC236}">
                <a16:creationId xmlns:a16="http://schemas.microsoft.com/office/drawing/2014/main" id="{79F25B5B-FC38-4EB9-9B84-5877DBBF6138}"/>
              </a:ext>
            </a:extLst>
          </p:cNvPr>
          <p:cNvSpPr>
            <a:spLocks xmlns:a="http://schemas.openxmlformats.org/drawingml/2006/main" noGrp="1"/>
          </p:cNvSpPr>
          <p:nvPr/>
        </p:nvSpPr>
        <p:spPr>
          <a:xfrm xmlns:a="http://schemas.openxmlformats.org/drawingml/2006/main">
            <a:off x="704850" y="4381500"/>
            <a:ext cx="2724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AEB4C4"/>
                </a:solidFill>
                <a:latin typeface="Helvetica Neue"/>
                <a:ea typeface="Helvetica Neue"/>
                <a:cs typeface="Helvetica Neue"/>
              </a:defRPr>
            </a:pPr>
            <a:r>
              <a:rPr sz="1200">
                <a:solidFill>
                  <a:srgbClr val="AEB4C4"/>
                </a:solidFill>
                <a:latin typeface="Helvetica Neue"/>
                <a:ea typeface="Helvetica Neue"/>
                <a:cs typeface="Helvetica Neue"/>
              </a:rPr>
              <a:t>Save a title and confirm it appears in the local library.</a:t>
            </a:r>
          </a:p>
        </p:txBody>
      </p:sp>
      <p:sp>
        <p:nvSpPr>
          <p:cNvPr id="20" name="qa-card-4">
            <a:extLst xmlns:a="http://schemas.openxmlformats.org/drawingml/2006/main">
              <a:ext uri="{FF2B5EF4-FFF2-40B4-BE49-F238E27FC236}">
                <a16:creationId xmlns:a16="http://schemas.microsoft.com/office/drawing/2014/main" id="{D6005720-36FB-4976-B536-DB8956AB38F2}"/>
              </a:ext>
            </a:extLst>
          </p:cNvPr>
          <p:cNvSpPr>
            <a:spLocks xmlns:a="http://schemas.openxmlformats.org/drawingml/2006/main" noGrp="1"/>
          </p:cNvSpPr>
          <p:nvPr/>
        </p:nvSpPr>
        <p:spPr>
          <a:xfrm xmlns:a="http://schemas.openxmlformats.org/drawingml/2006/main">
            <a:off x="4114800" y="3695700"/>
            <a:ext cx="3143250" cy="1504950"/>
          </a:xfrm>
          <a:prstGeom xmlns:a="http://schemas.openxmlformats.org/drawingml/2006/main" prst="roundRect">
            <a:avLst>
              <a:gd name="adj" fmla="val 7595"/>
            </a:avLst>
          </a:prstGeom>
          <a:solidFill xmlns:a="http://schemas.openxmlformats.org/drawingml/2006/main">
            <a:srgbClr val="1A1C24"/>
          </a:solidFill>
          <a:ln xmlns:a="http://schemas.openxmlformats.org/drawingml/2006/main" w="9525">
            <a:solidFill>
              <a:srgbClr val="3B4050"/>
            </a:solidFill>
            <a:prstDash val="solid"/>
          </a:ln>
        </p:spPr>
      </p:sp>
      <p:sp>
        <p:nvSpPr>
          <p:cNvPr id="21" name="qa-number-4">
            <a:extLst xmlns:a="http://schemas.openxmlformats.org/drawingml/2006/main">
              <a:ext uri="{FF2B5EF4-FFF2-40B4-BE49-F238E27FC236}">
                <a16:creationId xmlns:a16="http://schemas.microsoft.com/office/drawing/2014/main" id="{FDFFCFF0-4F41-47CD-AA1B-DCAAE9BF3DEF}"/>
              </a:ext>
            </a:extLst>
          </p:cNvPr>
          <p:cNvSpPr>
            <a:spLocks xmlns:a="http://schemas.openxmlformats.org/drawingml/2006/main" noGrp="1"/>
          </p:cNvSpPr>
          <p:nvPr/>
        </p:nvSpPr>
        <p:spPr>
          <a:xfrm xmlns:a="http://schemas.openxmlformats.org/drawingml/2006/main">
            <a:off x="4324350" y="39052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40D4E8"/>
                </a:solidFill>
                <a:latin typeface="Helvetica Neue"/>
                <a:ea typeface="Helvetica Neue"/>
                <a:cs typeface="Helvetica Neue"/>
              </a:defRPr>
            </a:pPr>
            <a:r>
              <a:rPr sz="1500" b="1">
                <a:solidFill>
                  <a:srgbClr val="40D4E8"/>
                </a:solidFill>
                <a:latin typeface="Helvetica Neue"/>
                <a:ea typeface="Helvetica Neue"/>
                <a:cs typeface="Helvetica Neue"/>
              </a:rPr>
              <a:t>05</a:t>
            </a:r>
          </a:p>
        </p:txBody>
      </p:sp>
      <p:sp>
        <p:nvSpPr>
          <p:cNvPr id="22" name="qa-title-4">
            <a:extLst xmlns:a="http://schemas.openxmlformats.org/drawingml/2006/main">
              <a:ext uri="{FF2B5EF4-FFF2-40B4-BE49-F238E27FC236}">
                <a16:creationId xmlns:a16="http://schemas.microsoft.com/office/drawing/2014/main" id="{326DDA0F-7B40-407F-9509-52B4EABFA324}"/>
              </a:ext>
            </a:extLst>
          </p:cNvPr>
          <p:cNvSpPr>
            <a:spLocks xmlns:a="http://schemas.openxmlformats.org/drawingml/2006/main" noGrp="1"/>
          </p:cNvSpPr>
          <p:nvPr/>
        </p:nvSpPr>
        <p:spPr>
          <a:xfrm xmlns:a="http://schemas.openxmlformats.org/drawingml/2006/main">
            <a:off x="5010150" y="3905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7F8FC"/>
                </a:solidFill>
                <a:latin typeface="Helvetica Neue"/>
                <a:ea typeface="Helvetica Neue"/>
                <a:cs typeface="Helvetica Neue"/>
              </a:defRPr>
            </a:pPr>
            <a:r>
              <a:rPr sz="1650" b="1">
                <a:solidFill>
                  <a:srgbClr val="F7F8FC"/>
                </a:solidFill>
                <a:latin typeface="Helvetica Neue"/>
                <a:ea typeface="Helvetica Neue"/>
                <a:cs typeface="Helvetica Neue"/>
              </a:rPr>
              <a:t>Playback</a:t>
            </a:r>
          </a:p>
        </p:txBody>
      </p:sp>
      <p:sp>
        <p:nvSpPr>
          <p:cNvPr id="23" name="qa-value-4">
            <a:extLst xmlns:a="http://schemas.openxmlformats.org/drawingml/2006/main">
              <a:ext uri="{FF2B5EF4-FFF2-40B4-BE49-F238E27FC236}">
                <a16:creationId xmlns:a16="http://schemas.microsoft.com/office/drawing/2014/main" id="{941CCDA3-8CE1-472B-84E5-1862AA1B5D13}"/>
              </a:ext>
            </a:extLst>
          </p:cNvPr>
          <p:cNvSpPr>
            <a:spLocks xmlns:a="http://schemas.openxmlformats.org/drawingml/2006/main" noGrp="1"/>
          </p:cNvSpPr>
          <p:nvPr/>
        </p:nvSpPr>
        <p:spPr>
          <a:xfrm xmlns:a="http://schemas.openxmlformats.org/drawingml/2006/main">
            <a:off x="4324350" y="4381500"/>
            <a:ext cx="2724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AEB4C4"/>
                </a:solidFill>
                <a:latin typeface="Helvetica Neue"/>
                <a:ea typeface="Helvetica Neue"/>
                <a:cs typeface="Helvetica Neue"/>
              </a:defRPr>
            </a:pPr>
            <a:r>
              <a:rPr sz="1200">
                <a:solidFill>
                  <a:srgbClr val="AEB4C4"/>
                </a:solidFill>
                <a:latin typeface="Helvetica Neue"/>
                <a:ea typeface="Helvetica Neue"/>
                <a:cs typeface="Helvetica Neue"/>
              </a:rPr>
              <a:t>Play a publisher-supplied test source and check audio/subtitle controls.</a:t>
            </a:r>
          </a:p>
        </p:txBody>
      </p:sp>
      <p:sp>
        <p:nvSpPr>
          <p:cNvPr id="24" name="qa-card-5">
            <a:extLst xmlns:a="http://schemas.openxmlformats.org/drawingml/2006/main">
              <a:ext uri="{FF2B5EF4-FFF2-40B4-BE49-F238E27FC236}">
                <a16:creationId xmlns:a16="http://schemas.microsoft.com/office/drawing/2014/main" id="{BEA7C3A9-339D-401E-97D5-2A7FDB2550CE}"/>
              </a:ext>
            </a:extLst>
          </p:cNvPr>
          <p:cNvSpPr>
            <a:spLocks xmlns:a="http://schemas.openxmlformats.org/drawingml/2006/main" noGrp="1"/>
          </p:cNvSpPr>
          <p:nvPr/>
        </p:nvSpPr>
        <p:spPr>
          <a:xfrm xmlns:a="http://schemas.openxmlformats.org/drawingml/2006/main">
            <a:off x="7734300" y="3695700"/>
            <a:ext cx="3143250" cy="1504950"/>
          </a:xfrm>
          <a:prstGeom xmlns:a="http://schemas.openxmlformats.org/drawingml/2006/main" prst="roundRect">
            <a:avLst>
              <a:gd name="adj" fmla="val 7595"/>
            </a:avLst>
          </a:prstGeom>
          <a:solidFill xmlns:a="http://schemas.openxmlformats.org/drawingml/2006/main">
            <a:srgbClr val="1A1C24"/>
          </a:solidFill>
          <a:ln xmlns:a="http://schemas.openxmlformats.org/drawingml/2006/main" w="9525">
            <a:solidFill>
              <a:srgbClr val="3B4050"/>
            </a:solidFill>
            <a:prstDash val="solid"/>
          </a:ln>
        </p:spPr>
      </p:sp>
      <p:sp>
        <p:nvSpPr>
          <p:cNvPr id="25" name="qa-number-5">
            <a:extLst xmlns:a="http://schemas.openxmlformats.org/drawingml/2006/main">
              <a:ext uri="{FF2B5EF4-FFF2-40B4-BE49-F238E27FC236}">
                <a16:creationId xmlns:a16="http://schemas.microsoft.com/office/drawing/2014/main" id="{64B64176-5BB1-4431-AE25-96ED77F8B071}"/>
              </a:ext>
            </a:extLst>
          </p:cNvPr>
          <p:cNvSpPr>
            <a:spLocks xmlns:a="http://schemas.openxmlformats.org/drawingml/2006/main" noGrp="1"/>
          </p:cNvSpPr>
          <p:nvPr/>
        </p:nvSpPr>
        <p:spPr>
          <a:xfrm xmlns:a="http://schemas.openxmlformats.org/drawingml/2006/main">
            <a:off x="7943850" y="3905250"/>
            <a:ext cx="514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40D4E8"/>
                </a:solidFill>
                <a:latin typeface="Helvetica Neue"/>
                <a:ea typeface="Helvetica Neue"/>
                <a:cs typeface="Helvetica Neue"/>
              </a:defRPr>
            </a:pPr>
            <a:r>
              <a:rPr sz="1500" b="1">
                <a:solidFill>
                  <a:srgbClr val="40D4E8"/>
                </a:solidFill>
                <a:latin typeface="Helvetica Neue"/>
                <a:ea typeface="Helvetica Neue"/>
                <a:cs typeface="Helvetica Neue"/>
              </a:rPr>
              <a:t>06</a:t>
            </a:r>
          </a:p>
        </p:txBody>
      </p:sp>
      <p:sp>
        <p:nvSpPr>
          <p:cNvPr id="26" name="qa-title-5">
            <a:extLst xmlns:a="http://schemas.openxmlformats.org/drawingml/2006/main">
              <a:ext uri="{FF2B5EF4-FFF2-40B4-BE49-F238E27FC236}">
                <a16:creationId xmlns:a16="http://schemas.microsoft.com/office/drawing/2014/main" id="{B9995489-476D-4139-817F-A39B50D4FF4F}"/>
              </a:ext>
            </a:extLst>
          </p:cNvPr>
          <p:cNvSpPr>
            <a:spLocks xmlns:a="http://schemas.openxmlformats.org/drawingml/2006/main" noGrp="1"/>
          </p:cNvSpPr>
          <p:nvPr/>
        </p:nvSpPr>
        <p:spPr>
          <a:xfrm xmlns:a="http://schemas.openxmlformats.org/drawingml/2006/main">
            <a:off x="8629650" y="39052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7F8FC"/>
                </a:solidFill>
                <a:latin typeface="Helvetica Neue"/>
                <a:ea typeface="Helvetica Neue"/>
                <a:cs typeface="Helvetica Neue"/>
              </a:defRPr>
            </a:pPr>
            <a:r>
              <a:rPr sz="1650" b="1">
                <a:solidFill>
                  <a:srgbClr val="F7F8FC"/>
                </a:solidFill>
                <a:latin typeface="Helvetica Neue"/>
                <a:ea typeface="Helvetica Neue"/>
                <a:cs typeface="Helvetica Neue"/>
              </a:rPr>
              <a:t>Recovery</a:t>
            </a:r>
          </a:p>
        </p:txBody>
      </p:sp>
      <p:sp>
        <p:nvSpPr>
          <p:cNvPr id="27" name="qa-value-5">
            <a:extLst xmlns:a="http://schemas.openxmlformats.org/drawingml/2006/main">
              <a:ext uri="{FF2B5EF4-FFF2-40B4-BE49-F238E27FC236}">
                <a16:creationId xmlns:a16="http://schemas.microsoft.com/office/drawing/2014/main" id="{4024CD5F-93FF-4821-81D9-F3076C68B5C4}"/>
              </a:ext>
            </a:extLst>
          </p:cNvPr>
          <p:cNvSpPr>
            <a:spLocks xmlns:a="http://schemas.openxmlformats.org/drawingml/2006/main" noGrp="1"/>
          </p:cNvSpPr>
          <p:nvPr/>
        </p:nvSpPr>
        <p:spPr>
          <a:xfrm xmlns:a="http://schemas.openxmlformats.org/drawingml/2006/main">
            <a:off x="7943850" y="4381500"/>
            <a:ext cx="27241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a:solidFill>
                  <a:srgbClr val="AEB4C4"/>
                </a:solidFill>
                <a:latin typeface="Helvetica Neue"/>
                <a:ea typeface="Helvetica Neue"/>
                <a:cs typeface="Helvetica Neue"/>
              </a:defRPr>
            </a:pPr>
            <a:r>
              <a:rPr sz="1200">
                <a:solidFill>
                  <a:srgbClr val="AEB4C4"/>
                </a:solidFill>
                <a:latin typeface="Helvetica Neue"/>
                <a:ea typeface="Helvetica Neue"/>
                <a:cs typeface="Helvetica Neue"/>
              </a:rPr>
              <a:t>Return to Home, relaunch and confirm saved state remains stable.</a:t>
            </a:r>
          </a:p>
        </p:txBody>
      </p:sp>
      <p:sp>
        <p:nvSpPr>
          <p:cNvPr id="28" name="qa-footer-panel">
            <a:extLst xmlns:a="http://schemas.openxmlformats.org/drawingml/2006/main">
              <a:ext uri="{FF2B5EF4-FFF2-40B4-BE49-F238E27FC236}">
                <a16:creationId xmlns:a16="http://schemas.microsoft.com/office/drawing/2014/main" id="{9FB86978-5332-49BB-A32E-6A8A7C67BF1C}"/>
              </a:ext>
            </a:extLst>
          </p:cNvPr>
          <p:cNvSpPr>
            <a:spLocks xmlns:a="http://schemas.openxmlformats.org/drawingml/2006/main" noGrp="1"/>
          </p:cNvSpPr>
          <p:nvPr/>
        </p:nvSpPr>
        <p:spPr>
          <a:xfrm xmlns:a="http://schemas.openxmlformats.org/drawingml/2006/main">
            <a:off x="495300" y="5524500"/>
            <a:ext cx="11201400" cy="419100"/>
          </a:xfrm>
          <a:prstGeom xmlns:a="http://schemas.openxmlformats.org/drawingml/2006/main" prst="roundRect">
            <a:avLst>
              <a:gd name="adj" fmla="val 18182"/>
            </a:avLst>
          </a:prstGeom>
          <a:solidFill xmlns:a="http://schemas.openxmlformats.org/drawingml/2006/main">
            <a:srgbClr val="232631"/>
          </a:solidFill>
          <a:ln xmlns:a="http://schemas.openxmlformats.org/drawingml/2006/main" w="0">
            <a:noFill/>
            <a:prstDash val="solid"/>
          </a:ln>
        </p:spPr>
      </p:sp>
      <p:sp>
        <p:nvSpPr>
          <p:cNvPr id="29" name="qa-pending">
            <a:extLst xmlns:a="http://schemas.openxmlformats.org/drawingml/2006/main">
              <a:ext uri="{FF2B5EF4-FFF2-40B4-BE49-F238E27FC236}">
                <a16:creationId xmlns:a16="http://schemas.microsoft.com/office/drawing/2014/main" id="{A225F1D0-D838-4826-9049-705F9B4FA9C5}"/>
              </a:ext>
            </a:extLst>
          </p:cNvPr>
          <p:cNvSpPr>
            <a:spLocks xmlns:a="http://schemas.openxmlformats.org/drawingml/2006/main" noGrp="1"/>
          </p:cNvSpPr>
          <p:nvPr/>
        </p:nvSpPr>
        <p:spPr>
          <a:xfrm xmlns:a="http://schemas.openxmlformats.org/drawingml/2006/main">
            <a:off x="685800" y="5657850"/>
            <a:ext cx="1082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a:solidFill>
                  <a:srgbClr val="F7F8FC"/>
                </a:solidFill>
                <a:latin typeface="Helvetica Neue"/>
                <a:ea typeface="Helvetica Neue"/>
                <a:cs typeface="Helvetica Neue"/>
              </a:defRPr>
            </a:pPr>
            <a:r>
              <a:rPr sz="1050">
                <a:solidFill>
                  <a:srgbClr val="F7F8FC"/>
                </a:solidFill>
                <a:latin typeface="Helvetica Neue"/>
                <a:ea typeface="Helvetica Neue"/>
                <a:cs typeface="Helvetica Neue"/>
              </a:rPr>
              <a:t>Pending publisher input: test account, configured provider/add-on, approved country/model groups, privacy/support contacts and final rating.</a:t>
            </a:r>
          </a:p>
        </p:txBody>
      </p:sp>
      <p:sp>
        <p:nvSpPr>
          <p:cNvPr id="30" name="footer-rule">
            <a:extLst xmlns:a="http://schemas.openxmlformats.org/drawingml/2006/main">
              <a:ext uri="{FF2B5EF4-FFF2-40B4-BE49-F238E27FC236}">
                <a16:creationId xmlns:a16="http://schemas.microsoft.com/office/drawing/2014/main" id="{05513167-4F67-4AEE-BDFE-4839740DE9F2}"/>
              </a:ext>
            </a:extLst>
          </p:cNvPr>
          <p:cNvSpPr>
            <a:spLocks xmlns:a="http://schemas.openxmlformats.org/drawingml/2006/main" noGrp="1"/>
          </p:cNvSpPr>
          <p:nvPr/>
        </p:nvSpPr>
        <p:spPr>
          <a:xfrm xmlns:a="http://schemas.openxmlformats.org/drawingml/2006/main">
            <a:off x="495300" y="6477000"/>
            <a:ext cx="11201400" cy="9525"/>
          </a:xfrm>
          <a:prstGeom xmlns:a="http://schemas.openxmlformats.org/drawingml/2006/main" prst="rect">
            <a:avLst/>
          </a:prstGeom>
          <a:solidFill xmlns:a="http://schemas.openxmlformats.org/drawingml/2006/main">
            <a:srgbClr val="3B4050"/>
          </a:solidFill>
          <a:ln xmlns:a="http://schemas.openxmlformats.org/drawingml/2006/main" w="0">
            <a:noFill/>
            <a:prstDash val="solid"/>
          </a:ln>
        </p:spPr>
      </p:sp>
      <p:sp>
        <p:nvSpPr>
          <p:cNvPr id="31" name="footer">
            <a:extLst xmlns:a="http://schemas.openxmlformats.org/drawingml/2006/main">
              <a:ext uri="{FF2B5EF4-FFF2-40B4-BE49-F238E27FC236}">
                <a16:creationId xmlns:a16="http://schemas.microsoft.com/office/drawing/2014/main" id="{930079BE-41AC-4382-9497-12C3C8F55ED3}"/>
              </a:ext>
            </a:extLst>
          </p:cNvPr>
          <p:cNvSpPr>
            <a:spLocks xmlns:a="http://schemas.openxmlformats.org/drawingml/2006/main" noGrp="1"/>
          </p:cNvSpPr>
          <p:nvPr/>
        </p:nvSpPr>
        <p:spPr>
          <a:xfrm xmlns:a="http://schemas.openxmlformats.org/drawingml/2006/main">
            <a:off x="495300" y="6572250"/>
            <a:ext cx="914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a:solidFill>
                  <a:srgbClr val="AEB4C4"/>
                </a:solidFill>
                <a:latin typeface="Helvetica Neue"/>
                <a:ea typeface="Helvetica Neue"/>
                <a:cs typeface="Helvetica Neue"/>
              </a:defRPr>
            </a:pPr>
            <a:r>
              <a:rPr sz="750">
                <a:solidFill>
                  <a:srgbClr val="AEB4C4"/>
                </a:solidFill>
                <a:latin typeface="Helvetica Neue"/>
                <a:ea typeface="Helvetica Neue"/>
                <a:cs typeface="Helvetica Neue"/>
              </a:rPr>
              <a:t>Nuvio TV • Samsung TV UI Description • submission draft</a:t>
            </a:r>
          </a:p>
        </p:txBody>
      </p:sp>
    </p:spTree>
    <p:extLst>
      <p:ext uri="{BB962C8B-B14F-4D97-AF65-F5344CB8AC3E}">
        <p14:creationId xmlns:p14="http://schemas.microsoft.com/office/powerpoint/2010/main" val="2525222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2026-08-22T15:12:39.6270000Z</dcterms:created>
  <dcterms:modified xsi:type="dcterms:W3CDTF">2026-08-22T15:12:39.6270000Z</dcterms:modified>
</coreProperties>
</file>